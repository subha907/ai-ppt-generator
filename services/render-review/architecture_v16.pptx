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ainer:account-1"/>
          <p:cNvSpPr/>
          <p:nvPr/>
        </p:nvSpPr>
        <p:spPr>
          <a:xfrm>
            <a:off x="274320" y="1409090"/>
            <a:ext cx="11643055" cy="4131259"/>
          </a:xfrm>
          <a:prstGeom prst="rect">
            <a:avLst/>
          </a:prstGeom>
          <a:solidFill>
            <a:srgbClr val="FFFFFF"/>
          </a:solidFill>
          <a:ln w="15875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container-title:account-1"/>
          <p:cNvSpPr/>
          <p:nvPr/>
        </p:nvSpPr>
        <p:spPr>
          <a:xfrm>
            <a:off x="274320" y="1409090"/>
            <a:ext cx="982980" cy="23774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AWS Account</a:t>
            </a:r>
          </a:p>
        </p:txBody>
      </p:sp>
      <p:sp>
        <p:nvSpPr>
          <p:cNvPr id="4" name="container:region-1"/>
          <p:cNvSpPr/>
          <p:nvPr/>
        </p:nvSpPr>
        <p:spPr>
          <a:xfrm>
            <a:off x="354787" y="1629460"/>
            <a:ext cx="11481206" cy="3830421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" name="container-title:region-1"/>
          <p:cNvSpPr/>
          <p:nvPr/>
        </p:nvSpPr>
        <p:spPr>
          <a:xfrm>
            <a:off x="354787" y="1629460"/>
            <a:ext cx="905256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AWS Region</a:t>
            </a:r>
          </a:p>
        </p:txBody>
      </p:sp>
      <p:sp>
        <p:nvSpPr>
          <p:cNvPr id="6" name="container:vpc-1"/>
          <p:cNvSpPr/>
          <p:nvPr/>
        </p:nvSpPr>
        <p:spPr>
          <a:xfrm>
            <a:off x="435254" y="1849831"/>
            <a:ext cx="2341778" cy="2585008"/>
          </a:xfrm>
          <a:prstGeom prst="rect">
            <a:avLst/>
          </a:prstGeom>
          <a:solidFill>
            <a:srgbClr val="FFFFFF"/>
          </a:solidFill>
          <a:ln w="15875">
            <a:solidFill>
              <a:srgbClr val="2488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" name="container-title:vpc-1"/>
          <p:cNvSpPr/>
          <p:nvPr/>
        </p:nvSpPr>
        <p:spPr>
          <a:xfrm>
            <a:off x="435254" y="1849831"/>
            <a:ext cx="640080" cy="237744"/>
          </a:xfrm>
          <a:prstGeom prst="rect">
            <a:avLst/>
          </a:prstGeom>
          <a:solidFill>
            <a:srgbClr val="248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VPC</a:t>
            </a:r>
          </a:p>
        </p:txBody>
      </p:sp>
      <p:sp>
        <p:nvSpPr>
          <p:cNvPr id="8" name="container:container-1"/>
          <p:cNvSpPr/>
          <p:nvPr/>
        </p:nvSpPr>
        <p:spPr>
          <a:xfrm>
            <a:off x="8834932" y="3415284"/>
            <a:ext cx="2920593" cy="858621"/>
          </a:xfrm>
          <a:prstGeom prst="rect">
            <a:avLst/>
          </a:prstGeom>
          <a:solidFill>
            <a:srgbClr val="FFFFFF"/>
          </a:solidFill>
          <a:ln w="15875">
            <a:solidFill>
              <a:srgbClr val="7D89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9" name="container-title:container-1"/>
          <p:cNvSpPr/>
          <p:nvPr/>
        </p:nvSpPr>
        <p:spPr>
          <a:xfrm>
            <a:off x="8834932" y="3415284"/>
            <a:ext cx="1604772" cy="237744"/>
          </a:xfrm>
          <a:prstGeom prst="rect">
            <a:avLst/>
          </a:prstGeom>
          <a:solidFill>
            <a:srgbClr val="7D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Security &amp; Identity</a:t>
            </a:r>
          </a:p>
        </p:txBody>
      </p:sp>
      <p:sp>
        <p:nvSpPr>
          <p:cNvPr id="10" name="container:container-2"/>
          <p:cNvSpPr/>
          <p:nvPr/>
        </p:nvSpPr>
        <p:spPr>
          <a:xfrm>
            <a:off x="6351422" y="2290572"/>
            <a:ext cx="1904695" cy="858621"/>
          </a:xfrm>
          <a:prstGeom prst="rect">
            <a:avLst/>
          </a:prstGeom>
          <a:solidFill>
            <a:srgbClr val="FFFFFF"/>
          </a:solidFill>
          <a:ln w="15875">
            <a:solidFill>
              <a:srgbClr val="7D89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1" name="container-title:container-2"/>
          <p:cNvSpPr/>
          <p:nvPr/>
        </p:nvSpPr>
        <p:spPr>
          <a:xfrm>
            <a:off x="6351422" y="2290572"/>
            <a:ext cx="1904695" cy="237744"/>
          </a:xfrm>
          <a:prstGeom prst="rect">
            <a:avLst/>
          </a:prstGeom>
          <a:solidFill>
            <a:srgbClr val="7D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Management &amp; Governance</a:t>
            </a:r>
          </a:p>
        </p:txBody>
      </p:sp>
      <p:sp>
        <p:nvSpPr>
          <p:cNvPr id="12" name="container:az-1"/>
          <p:cNvSpPr/>
          <p:nvPr/>
        </p:nvSpPr>
        <p:spPr>
          <a:xfrm>
            <a:off x="516635" y="2070201"/>
            <a:ext cx="1049731" cy="2284171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3" name="container-title:az-1"/>
          <p:cNvSpPr/>
          <p:nvPr/>
        </p:nvSpPr>
        <p:spPr>
          <a:xfrm>
            <a:off x="516635" y="2070201"/>
            <a:ext cx="1049731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Availability Zone 1</a:t>
            </a:r>
          </a:p>
        </p:txBody>
      </p:sp>
      <p:sp>
        <p:nvSpPr>
          <p:cNvPr id="14" name="container:az-2"/>
          <p:cNvSpPr/>
          <p:nvPr/>
        </p:nvSpPr>
        <p:spPr>
          <a:xfrm>
            <a:off x="1646834" y="2070201"/>
            <a:ext cx="1049731" cy="2284171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5" name="container-title:az-2"/>
          <p:cNvSpPr/>
          <p:nvPr/>
        </p:nvSpPr>
        <p:spPr>
          <a:xfrm>
            <a:off x="1646834" y="2070201"/>
            <a:ext cx="1049731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Availability Zone 2</a:t>
            </a:r>
          </a:p>
        </p:txBody>
      </p:sp>
      <p:sp>
        <p:nvSpPr>
          <p:cNvPr id="16" name="container:subnet-1"/>
          <p:cNvSpPr/>
          <p:nvPr/>
        </p:nvSpPr>
        <p:spPr>
          <a:xfrm>
            <a:off x="597103" y="2290572"/>
            <a:ext cx="887882" cy="858621"/>
          </a:xfrm>
          <a:prstGeom prst="rect">
            <a:avLst/>
          </a:prstGeom>
          <a:solidFill>
            <a:srgbClr val="F5F9EE"/>
          </a:solidFill>
          <a:ln w="15875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7" name="container-title:subnet-1"/>
          <p:cNvSpPr/>
          <p:nvPr/>
        </p:nvSpPr>
        <p:spPr>
          <a:xfrm>
            <a:off x="597103" y="2290572"/>
            <a:ext cx="887882" cy="237744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Public Subnet 1</a:t>
            </a:r>
          </a:p>
        </p:txBody>
      </p:sp>
      <p:sp>
        <p:nvSpPr>
          <p:cNvPr id="18" name="container:subnet-2"/>
          <p:cNvSpPr/>
          <p:nvPr/>
        </p:nvSpPr>
        <p:spPr>
          <a:xfrm>
            <a:off x="597103" y="3415284"/>
            <a:ext cx="887882" cy="858621"/>
          </a:xfrm>
          <a:prstGeom prst="rect">
            <a:avLst/>
          </a:prstGeom>
          <a:solidFill>
            <a:srgbClr val="F2FBFC"/>
          </a:solidFill>
          <a:ln w="15875">
            <a:solidFill>
              <a:srgbClr val="00A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9" name="container-title:subnet-2"/>
          <p:cNvSpPr/>
          <p:nvPr/>
        </p:nvSpPr>
        <p:spPr>
          <a:xfrm>
            <a:off x="597103" y="3415284"/>
            <a:ext cx="887882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Private Subnet 1</a:t>
            </a:r>
          </a:p>
        </p:txBody>
      </p:sp>
      <p:sp>
        <p:nvSpPr>
          <p:cNvPr id="20" name="container:subnet-3"/>
          <p:cNvSpPr/>
          <p:nvPr/>
        </p:nvSpPr>
        <p:spPr>
          <a:xfrm>
            <a:off x="1728216" y="2290572"/>
            <a:ext cx="887882" cy="858621"/>
          </a:xfrm>
          <a:prstGeom prst="rect">
            <a:avLst/>
          </a:prstGeom>
          <a:solidFill>
            <a:srgbClr val="F5F9EE"/>
          </a:solidFill>
          <a:ln w="15875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1" name="container-title:subnet-3"/>
          <p:cNvSpPr/>
          <p:nvPr/>
        </p:nvSpPr>
        <p:spPr>
          <a:xfrm>
            <a:off x="1728216" y="2290572"/>
            <a:ext cx="887882" cy="237744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Public Subnet 2</a:t>
            </a:r>
          </a:p>
        </p:txBody>
      </p:sp>
      <p:sp>
        <p:nvSpPr>
          <p:cNvPr id="22" name="container:subnet-4"/>
          <p:cNvSpPr/>
          <p:nvPr/>
        </p:nvSpPr>
        <p:spPr>
          <a:xfrm>
            <a:off x="1728216" y="3415284"/>
            <a:ext cx="887882" cy="858621"/>
          </a:xfrm>
          <a:prstGeom prst="rect">
            <a:avLst/>
          </a:prstGeom>
          <a:solidFill>
            <a:srgbClr val="F2FBFC"/>
          </a:solidFill>
          <a:ln w="15875">
            <a:solidFill>
              <a:srgbClr val="00A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3" name="container-title:subnet-4"/>
          <p:cNvSpPr/>
          <p:nvPr/>
        </p:nvSpPr>
        <p:spPr>
          <a:xfrm>
            <a:off x="1728216" y="3415284"/>
            <a:ext cx="887882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Private Subnet 2</a:t>
            </a:r>
          </a:p>
        </p:txBody>
      </p:sp>
      <p:pic>
        <p:nvPicPr>
          <p:cNvPr id="24" name="icon:ecs-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83" y="2510942"/>
            <a:ext cx="334121" cy="334121"/>
          </a:xfrm>
          <a:prstGeom prst="rect">
            <a:avLst/>
          </a:prstGeom>
        </p:spPr>
      </p:pic>
      <p:sp>
        <p:nvSpPr>
          <p:cNvPr id="25" name="icon-label:ecs-1"/>
          <p:cNvSpPr txBox="1"/>
          <p:nvPr/>
        </p:nvSpPr>
        <p:spPr>
          <a:xfrm>
            <a:off x="677570" y="2845064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ECS</a:t>
            </a:r>
          </a:p>
        </p:txBody>
      </p:sp>
      <p:pic>
        <p:nvPicPr>
          <p:cNvPr id="26" name="icon:rds-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83" y="3635654"/>
            <a:ext cx="334121" cy="334121"/>
          </a:xfrm>
          <a:prstGeom prst="rect">
            <a:avLst/>
          </a:prstGeom>
        </p:spPr>
      </p:pic>
      <p:sp>
        <p:nvSpPr>
          <p:cNvPr id="27" name="icon-label:rds-1"/>
          <p:cNvSpPr txBox="1"/>
          <p:nvPr/>
        </p:nvSpPr>
        <p:spPr>
          <a:xfrm>
            <a:off x="677570" y="3969776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RDS</a:t>
            </a:r>
          </a:p>
        </p:txBody>
      </p:sp>
      <p:pic>
        <p:nvPicPr>
          <p:cNvPr id="28" name="icon:ecs-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96" y="2510942"/>
            <a:ext cx="334121" cy="334121"/>
          </a:xfrm>
          <a:prstGeom prst="rect">
            <a:avLst/>
          </a:prstGeom>
        </p:spPr>
      </p:pic>
      <p:sp>
        <p:nvSpPr>
          <p:cNvPr id="29" name="icon-label:ecs-2"/>
          <p:cNvSpPr txBox="1"/>
          <p:nvPr/>
        </p:nvSpPr>
        <p:spPr>
          <a:xfrm>
            <a:off x="1808683" y="2845064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ECS</a:t>
            </a:r>
          </a:p>
        </p:txBody>
      </p:sp>
      <p:pic>
        <p:nvPicPr>
          <p:cNvPr id="30" name="icon:rds-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096" y="3635654"/>
            <a:ext cx="334121" cy="334121"/>
          </a:xfrm>
          <a:prstGeom prst="rect">
            <a:avLst/>
          </a:prstGeom>
        </p:spPr>
      </p:pic>
      <p:sp>
        <p:nvSpPr>
          <p:cNvPr id="31" name="icon-label:rds-2"/>
          <p:cNvSpPr txBox="1"/>
          <p:nvPr/>
        </p:nvSpPr>
        <p:spPr>
          <a:xfrm>
            <a:off x="1808683" y="3969776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RDS Read Replica</a:t>
            </a:r>
          </a:p>
        </p:txBody>
      </p:sp>
      <p:pic>
        <p:nvPicPr>
          <p:cNvPr id="32" name="icon:iam-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813" y="3635654"/>
            <a:ext cx="334121" cy="334121"/>
          </a:xfrm>
          <a:prstGeom prst="rect">
            <a:avLst/>
          </a:prstGeom>
        </p:spPr>
      </p:pic>
      <p:sp>
        <p:nvSpPr>
          <p:cNvPr id="33" name="icon-label:iam-1"/>
          <p:cNvSpPr txBox="1"/>
          <p:nvPr/>
        </p:nvSpPr>
        <p:spPr>
          <a:xfrm>
            <a:off x="8915400" y="3969776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IAM</a:t>
            </a:r>
          </a:p>
        </p:txBody>
      </p:sp>
      <p:pic>
        <p:nvPicPr>
          <p:cNvPr id="34" name="icon:kms-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8625" y="3635654"/>
            <a:ext cx="334121" cy="334121"/>
          </a:xfrm>
          <a:prstGeom prst="rect">
            <a:avLst/>
          </a:prstGeom>
        </p:spPr>
      </p:pic>
      <p:sp>
        <p:nvSpPr>
          <p:cNvPr id="35" name="icon-label:kms-1"/>
          <p:cNvSpPr txBox="1"/>
          <p:nvPr/>
        </p:nvSpPr>
        <p:spPr>
          <a:xfrm>
            <a:off x="9932212" y="3969776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KMS</a:t>
            </a:r>
          </a:p>
        </p:txBody>
      </p:sp>
      <p:pic>
        <p:nvPicPr>
          <p:cNvPr id="36" name="icon:waf-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524" y="3635654"/>
            <a:ext cx="334121" cy="334121"/>
          </a:xfrm>
          <a:prstGeom prst="rect">
            <a:avLst/>
          </a:prstGeom>
        </p:spPr>
      </p:pic>
      <p:sp>
        <p:nvSpPr>
          <p:cNvPr id="37" name="icon-label:waf-1"/>
          <p:cNvSpPr txBox="1"/>
          <p:nvPr/>
        </p:nvSpPr>
        <p:spPr>
          <a:xfrm>
            <a:off x="10948111" y="3969776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WAF</a:t>
            </a:r>
          </a:p>
        </p:txBody>
      </p:sp>
      <p:pic>
        <p:nvPicPr>
          <p:cNvPr id="38" name="icon:cloudwatch-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8302" y="2510942"/>
            <a:ext cx="334121" cy="334121"/>
          </a:xfrm>
          <a:prstGeom prst="rect">
            <a:avLst/>
          </a:prstGeom>
        </p:spPr>
      </p:pic>
      <p:sp>
        <p:nvSpPr>
          <p:cNvPr id="39" name="icon-label:cloudwatch-1"/>
          <p:cNvSpPr txBox="1"/>
          <p:nvPr/>
        </p:nvSpPr>
        <p:spPr>
          <a:xfrm>
            <a:off x="6431889" y="2845064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CloudWatch</a:t>
            </a:r>
          </a:p>
        </p:txBody>
      </p:sp>
      <p:pic>
        <p:nvPicPr>
          <p:cNvPr id="40" name="icon:cloudtrail-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5115" y="2510942"/>
            <a:ext cx="334121" cy="334121"/>
          </a:xfrm>
          <a:prstGeom prst="rect">
            <a:avLst/>
          </a:prstGeom>
        </p:spPr>
      </p:pic>
      <p:sp>
        <p:nvSpPr>
          <p:cNvPr id="41" name="icon-label:cloudtrail-1"/>
          <p:cNvSpPr txBox="1"/>
          <p:nvPr/>
        </p:nvSpPr>
        <p:spPr>
          <a:xfrm>
            <a:off x="7448702" y="2845064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CloudTrail</a:t>
            </a:r>
          </a:p>
        </p:txBody>
      </p:sp>
      <p:pic>
        <p:nvPicPr>
          <p:cNvPr id="42" name="icon:s3-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7772" y="3635654"/>
            <a:ext cx="334121" cy="334121"/>
          </a:xfrm>
          <a:prstGeom prst="rect">
            <a:avLst/>
          </a:prstGeom>
        </p:spPr>
      </p:pic>
      <p:sp>
        <p:nvSpPr>
          <p:cNvPr id="43" name="icon-label:s3-1"/>
          <p:cNvSpPr txBox="1"/>
          <p:nvPr/>
        </p:nvSpPr>
        <p:spPr>
          <a:xfrm>
            <a:off x="4931359" y="3969776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S3</a:t>
            </a:r>
          </a:p>
        </p:txBody>
      </p:sp>
      <p:pic>
        <p:nvPicPr>
          <p:cNvPr id="44" name="icon:sqs-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5975" y="3635654"/>
            <a:ext cx="334121" cy="334121"/>
          </a:xfrm>
          <a:prstGeom prst="rect">
            <a:avLst/>
          </a:prstGeom>
        </p:spPr>
      </p:pic>
      <p:sp>
        <p:nvSpPr>
          <p:cNvPr id="45" name="icon-label:sqs-1"/>
          <p:cNvSpPr txBox="1"/>
          <p:nvPr/>
        </p:nvSpPr>
        <p:spPr>
          <a:xfrm>
            <a:off x="2899562" y="3969776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SQS</a:t>
            </a:r>
          </a:p>
        </p:txBody>
      </p:sp>
      <p:pic>
        <p:nvPicPr>
          <p:cNvPr id="46" name="icon:eventbridge-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1873" y="3635654"/>
            <a:ext cx="334121" cy="334121"/>
          </a:xfrm>
          <a:prstGeom prst="rect">
            <a:avLst/>
          </a:prstGeom>
        </p:spPr>
      </p:pic>
      <p:sp>
        <p:nvSpPr>
          <p:cNvPr id="47" name="icon-label:eventbridge-1"/>
          <p:cNvSpPr txBox="1"/>
          <p:nvPr/>
        </p:nvSpPr>
        <p:spPr>
          <a:xfrm>
            <a:off x="3915460" y="3969776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EventBridge</a:t>
            </a:r>
          </a:p>
        </p:txBody>
      </p:sp>
      <p:pic>
        <p:nvPicPr>
          <p:cNvPr id="48" name="icon:cloudfront-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3670" y="4781397"/>
            <a:ext cx="334121" cy="334121"/>
          </a:xfrm>
          <a:prstGeom prst="rect">
            <a:avLst/>
          </a:prstGeom>
        </p:spPr>
      </p:pic>
      <p:sp>
        <p:nvSpPr>
          <p:cNvPr id="49" name="icon-label:cloudfront-1"/>
          <p:cNvSpPr txBox="1"/>
          <p:nvPr/>
        </p:nvSpPr>
        <p:spPr>
          <a:xfrm>
            <a:off x="5947257" y="5115519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CloudFront</a:t>
            </a:r>
          </a:p>
        </p:txBody>
      </p:sp>
      <p:pic>
        <p:nvPicPr>
          <p:cNvPr id="50" name="icon:acm-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3670" y="3635654"/>
            <a:ext cx="334121" cy="334121"/>
          </a:xfrm>
          <a:prstGeom prst="rect">
            <a:avLst/>
          </a:prstGeom>
        </p:spPr>
      </p:pic>
      <p:sp>
        <p:nvSpPr>
          <p:cNvPr id="51" name="icon-label:acm-1"/>
          <p:cNvSpPr txBox="1"/>
          <p:nvPr/>
        </p:nvSpPr>
        <p:spPr>
          <a:xfrm>
            <a:off x="5947257" y="3969776"/>
            <a:ext cx="726948" cy="22274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ACM</a:t>
            </a:r>
          </a:p>
        </p:txBody>
      </p:sp>
      <p:cxnSp>
        <p:nvCxnSpPr>
          <p:cNvPr id="52" name="conn:edge-1"/>
          <p:cNvCxnSpPr/>
          <p:nvPr/>
        </p:nvCxnSpPr>
        <p:spPr>
          <a:xfrm>
            <a:off x="822960" y="3070555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:edge-1"/>
          <p:cNvCxnSpPr/>
          <p:nvPr/>
        </p:nvCxnSpPr>
        <p:spPr>
          <a:xfrm>
            <a:off x="822960" y="3070555"/>
            <a:ext cx="0" cy="48463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:edge-1"/>
          <p:cNvCxnSpPr/>
          <p:nvPr/>
        </p:nvCxnSpPr>
        <p:spPr>
          <a:xfrm>
            <a:off x="822960" y="3555187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:edge-1"/>
          <p:cNvCxnSpPr/>
          <p:nvPr/>
        </p:nvCxnSpPr>
        <p:spPr>
          <a:xfrm>
            <a:off x="822960" y="3555187"/>
            <a:ext cx="0" cy="77724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onn-label:edge-1"/>
          <p:cNvSpPr txBox="1"/>
          <p:nvPr/>
        </p:nvSpPr>
        <p:spPr>
          <a:xfrm>
            <a:off x="320040" y="3354019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Database Connec…</a:t>
            </a:r>
          </a:p>
        </p:txBody>
      </p:sp>
      <p:cxnSp>
        <p:nvCxnSpPr>
          <p:cNvPr id="57" name="conn:edge-2"/>
          <p:cNvCxnSpPr/>
          <p:nvPr/>
        </p:nvCxnSpPr>
        <p:spPr>
          <a:xfrm>
            <a:off x="2172614" y="3070555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:edge-2"/>
          <p:cNvCxnSpPr/>
          <p:nvPr/>
        </p:nvCxnSpPr>
        <p:spPr>
          <a:xfrm>
            <a:off x="2172614" y="3070555"/>
            <a:ext cx="0" cy="48463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:edge-2"/>
          <p:cNvCxnSpPr/>
          <p:nvPr/>
        </p:nvCxnSpPr>
        <p:spPr>
          <a:xfrm>
            <a:off x="2172614" y="3555187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:edge-2"/>
          <p:cNvCxnSpPr/>
          <p:nvPr/>
        </p:nvCxnSpPr>
        <p:spPr>
          <a:xfrm>
            <a:off x="2172614" y="3555187"/>
            <a:ext cx="0" cy="77724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onn-label:edge-2"/>
          <p:cNvSpPr txBox="1"/>
          <p:nvPr/>
        </p:nvSpPr>
        <p:spPr>
          <a:xfrm>
            <a:off x="1669694" y="3354019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Database Connec…</a:t>
            </a:r>
          </a:p>
        </p:txBody>
      </p:sp>
      <p:cxnSp>
        <p:nvCxnSpPr>
          <p:cNvPr id="62" name="conn:edge-3"/>
          <p:cNvCxnSpPr/>
          <p:nvPr/>
        </p:nvCxnSpPr>
        <p:spPr>
          <a:xfrm>
            <a:off x="1259128" y="3070555"/>
            <a:ext cx="0" cy="7680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:edge-3"/>
          <p:cNvCxnSpPr/>
          <p:nvPr/>
        </p:nvCxnSpPr>
        <p:spPr>
          <a:xfrm>
            <a:off x="1259128" y="3147364"/>
            <a:ext cx="0" cy="6309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:edge-3"/>
          <p:cNvCxnSpPr/>
          <p:nvPr/>
        </p:nvCxnSpPr>
        <p:spPr>
          <a:xfrm>
            <a:off x="1259128" y="3210458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:edge-3"/>
          <p:cNvCxnSpPr/>
          <p:nvPr/>
        </p:nvCxnSpPr>
        <p:spPr>
          <a:xfrm>
            <a:off x="1259128" y="3210458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:edge-3"/>
          <p:cNvCxnSpPr/>
          <p:nvPr/>
        </p:nvCxnSpPr>
        <p:spPr>
          <a:xfrm>
            <a:off x="1259128" y="3210458"/>
            <a:ext cx="3914547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:edge-3"/>
          <p:cNvCxnSpPr/>
          <p:nvPr/>
        </p:nvCxnSpPr>
        <p:spPr>
          <a:xfrm>
            <a:off x="5173675" y="3210458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:edge-3"/>
          <p:cNvCxnSpPr/>
          <p:nvPr/>
        </p:nvCxnSpPr>
        <p:spPr>
          <a:xfrm>
            <a:off x="5173675" y="3210458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:edge-3"/>
          <p:cNvCxnSpPr/>
          <p:nvPr/>
        </p:nvCxnSpPr>
        <p:spPr>
          <a:xfrm>
            <a:off x="5173675" y="3210458"/>
            <a:ext cx="0" cy="345643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:edge-3"/>
          <p:cNvCxnSpPr/>
          <p:nvPr/>
        </p:nvCxnSpPr>
        <p:spPr>
          <a:xfrm>
            <a:off x="5173675" y="3556101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:edge-3"/>
          <p:cNvCxnSpPr/>
          <p:nvPr/>
        </p:nvCxnSpPr>
        <p:spPr>
          <a:xfrm>
            <a:off x="5173675" y="3556101"/>
            <a:ext cx="0" cy="77724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onn-label:edge-3"/>
          <p:cNvSpPr txBox="1"/>
          <p:nvPr/>
        </p:nvSpPr>
        <p:spPr>
          <a:xfrm>
            <a:off x="4670755" y="3009290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Object Storage…</a:t>
            </a:r>
          </a:p>
        </p:txBody>
      </p:sp>
      <p:cxnSp>
        <p:nvCxnSpPr>
          <p:cNvPr id="73" name="conn:edge-4"/>
          <p:cNvCxnSpPr/>
          <p:nvPr/>
        </p:nvCxnSpPr>
        <p:spPr>
          <a:xfrm>
            <a:off x="2538374" y="2734056"/>
            <a:ext cx="847649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:edge-4"/>
          <p:cNvCxnSpPr/>
          <p:nvPr/>
        </p:nvCxnSpPr>
        <p:spPr>
          <a:xfrm>
            <a:off x="3386023" y="2734056"/>
            <a:ext cx="2029968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:edge-4"/>
          <p:cNvCxnSpPr/>
          <p:nvPr/>
        </p:nvCxnSpPr>
        <p:spPr>
          <a:xfrm>
            <a:off x="5415991" y="2734056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:edge-4"/>
          <p:cNvCxnSpPr/>
          <p:nvPr/>
        </p:nvCxnSpPr>
        <p:spPr>
          <a:xfrm>
            <a:off x="5415991" y="2734056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:edge-4"/>
          <p:cNvCxnSpPr/>
          <p:nvPr/>
        </p:nvCxnSpPr>
        <p:spPr>
          <a:xfrm>
            <a:off x="5415991" y="2734056"/>
            <a:ext cx="0" cy="82296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:edge-4"/>
          <p:cNvCxnSpPr/>
          <p:nvPr/>
        </p:nvCxnSpPr>
        <p:spPr>
          <a:xfrm>
            <a:off x="5415991" y="3557016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:edge-4"/>
          <p:cNvCxnSpPr/>
          <p:nvPr/>
        </p:nvCxnSpPr>
        <p:spPr>
          <a:xfrm>
            <a:off x="5415991" y="3557016"/>
            <a:ext cx="0" cy="76809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onn-label:edge-4"/>
          <p:cNvSpPr txBox="1"/>
          <p:nvPr/>
        </p:nvSpPr>
        <p:spPr>
          <a:xfrm>
            <a:off x="4913071" y="2532888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Object Storage…</a:t>
            </a:r>
          </a:p>
        </p:txBody>
      </p:sp>
      <p:cxnSp>
        <p:nvCxnSpPr>
          <p:cNvPr id="81" name="conn:edge-5"/>
          <p:cNvCxnSpPr/>
          <p:nvPr/>
        </p:nvCxnSpPr>
        <p:spPr>
          <a:xfrm>
            <a:off x="968349" y="3070555"/>
            <a:ext cx="0" cy="19568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:edge-5"/>
          <p:cNvCxnSpPr/>
          <p:nvPr/>
        </p:nvCxnSpPr>
        <p:spPr>
          <a:xfrm>
            <a:off x="968349" y="3266236"/>
            <a:ext cx="0" cy="227686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:edge-5"/>
          <p:cNvCxnSpPr/>
          <p:nvPr/>
        </p:nvCxnSpPr>
        <p:spPr>
          <a:xfrm>
            <a:off x="968349" y="34939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:edge-5"/>
          <p:cNvCxnSpPr/>
          <p:nvPr/>
        </p:nvCxnSpPr>
        <p:spPr>
          <a:xfrm>
            <a:off x="968349" y="34939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:edge-5"/>
          <p:cNvCxnSpPr/>
          <p:nvPr/>
        </p:nvCxnSpPr>
        <p:spPr>
          <a:xfrm>
            <a:off x="968349" y="3493922"/>
            <a:ext cx="2173529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:edge-5"/>
          <p:cNvCxnSpPr/>
          <p:nvPr/>
        </p:nvCxnSpPr>
        <p:spPr>
          <a:xfrm>
            <a:off x="3141878" y="34939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:edge-5"/>
          <p:cNvCxnSpPr/>
          <p:nvPr/>
        </p:nvCxnSpPr>
        <p:spPr>
          <a:xfrm>
            <a:off x="3141878" y="34939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:edge-5"/>
          <p:cNvCxnSpPr/>
          <p:nvPr/>
        </p:nvCxnSpPr>
        <p:spPr>
          <a:xfrm>
            <a:off x="3141878" y="3493922"/>
            <a:ext cx="0" cy="6217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:edge-5"/>
          <p:cNvCxnSpPr/>
          <p:nvPr/>
        </p:nvCxnSpPr>
        <p:spPr>
          <a:xfrm>
            <a:off x="3141878" y="3556101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:edge-5"/>
          <p:cNvCxnSpPr/>
          <p:nvPr/>
        </p:nvCxnSpPr>
        <p:spPr>
          <a:xfrm>
            <a:off x="3141878" y="3556101"/>
            <a:ext cx="0" cy="77724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conn-label:edge-5"/>
          <p:cNvSpPr txBox="1"/>
          <p:nvPr/>
        </p:nvSpPr>
        <p:spPr>
          <a:xfrm>
            <a:off x="2638958" y="32927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Message Queue A…</a:t>
            </a:r>
          </a:p>
        </p:txBody>
      </p:sp>
      <p:cxnSp>
        <p:nvCxnSpPr>
          <p:cNvPr id="92" name="conn:edge-6"/>
          <p:cNvCxnSpPr/>
          <p:nvPr/>
        </p:nvCxnSpPr>
        <p:spPr>
          <a:xfrm>
            <a:off x="2539288" y="2957169"/>
            <a:ext cx="355702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:edge-6"/>
          <p:cNvCxnSpPr/>
          <p:nvPr/>
        </p:nvCxnSpPr>
        <p:spPr>
          <a:xfrm>
            <a:off x="2894990" y="2957169"/>
            <a:ext cx="489204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:edge-6"/>
          <p:cNvCxnSpPr/>
          <p:nvPr/>
        </p:nvCxnSpPr>
        <p:spPr>
          <a:xfrm>
            <a:off x="3384194" y="2957169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:edge-6"/>
          <p:cNvCxnSpPr/>
          <p:nvPr/>
        </p:nvCxnSpPr>
        <p:spPr>
          <a:xfrm>
            <a:off x="3384194" y="2957169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:edge-6"/>
          <p:cNvCxnSpPr/>
          <p:nvPr/>
        </p:nvCxnSpPr>
        <p:spPr>
          <a:xfrm>
            <a:off x="3384194" y="2957169"/>
            <a:ext cx="0" cy="597103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:edge-6"/>
          <p:cNvCxnSpPr/>
          <p:nvPr/>
        </p:nvCxnSpPr>
        <p:spPr>
          <a:xfrm>
            <a:off x="3384194" y="355427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:edge-6"/>
          <p:cNvCxnSpPr/>
          <p:nvPr/>
        </p:nvCxnSpPr>
        <p:spPr>
          <a:xfrm>
            <a:off x="3384194" y="3554272"/>
            <a:ext cx="0" cy="77724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onn-label:edge-6"/>
          <p:cNvSpPr txBox="1"/>
          <p:nvPr/>
        </p:nvSpPr>
        <p:spPr>
          <a:xfrm>
            <a:off x="2881274" y="2756001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Message Queue A…</a:t>
            </a:r>
          </a:p>
        </p:txBody>
      </p:sp>
      <p:cxnSp>
        <p:nvCxnSpPr>
          <p:cNvPr id="100" name="conn:edge-7"/>
          <p:cNvCxnSpPr/>
          <p:nvPr/>
        </p:nvCxnSpPr>
        <p:spPr>
          <a:xfrm>
            <a:off x="1113739" y="3070555"/>
            <a:ext cx="0" cy="14081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:edge-7"/>
          <p:cNvCxnSpPr/>
          <p:nvPr/>
        </p:nvCxnSpPr>
        <p:spPr>
          <a:xfrm>
            <a:off x="1113739" y="3211372"/>
            <a:ext cx="0" cy="13990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:edge-7"/>
          <p:cNvCxnSpPr/>
          <p:nvPr/>
        </p:nvCxnSpPr>
        <p:spPr>
          <a:xfrm>
            <a:off x="1113739" y="3351276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:edge-7"/>
          <p:cNvCxnSpPr/>
          <p:nvPr/>
        </p:nvCxnSpPr>
        <p:spPr>
          <a:xfrm>
            <a:off x="1113739" y="3351276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:edge-7"/>
          <p:cNvCxnSpPr/>
          <p:nvPr/>
        </p:nvCxnSpPr>
        <p:spPr>
          <a:xfrm>
            <a:off x="1113739" y="3351276"/>
            <a:ext cx="3044037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:edge-7"/>
          <p:cNvCxnSpPr/>
          <p:nvPr/>
        </p:nvCxnSpPr>
        <p:spPr>
          <a:xfrm>
            <a:off x="4157776" y="3351276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:edge-7"/>
          <p:cNvCxnSpPr/>
          <p:nvPr/>
        </p:nvCxnSpPr>
        <p:spPr>
          <a:xfrm>
            <a:off x="4157776" y="3351276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:edge-7"/>
          <p:cNvCxnSpPr/>
          <p:nvPr/>
        </p:nvCxnSpPr>
        <p:spPr>
          <a:xfrm>
            <a:off x="4157776" y="3351276"/>
            <a:ext cx="0" cy="20391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:edge-7"/>
          <p:cNvCxnSpPr/>
          <p:nvPr/>
        </p:nvCxnSpPr>
        <p:spPr>
          <a:xfrm>
            <a:off x="4157776" y="3555187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:edge-7"/>
          <p:cNvCxnSpPr/>
          <p:nvPr/>
        </p:nvCxnSpPr>
        <p:spPr>
          <a:xfrm>
            <a:off x="4157776" y="3555187"/>
            <a:ext cx="0" cy="77724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conn-label:edge-7"/>
          <p:cNvSpPr txBox="1"/>
          <p:nvPr/>
        </p:nvSpPr>
        <p:spPr>
          <a:xfrm>
            <a:off x="3654856" y="3150108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Event Bus Access</a:t>
            </a:r>
          </a:p>
        </p:txBody>
      </p:sp>
      <p:cxnSp>
        <p:nvCxnSpPr>
          <p:cNvPr id="111" name="conn:edge-8"/>
          <p:cNvCxnSpPr/>
          <p:nvPr/>
        </p:nvCxnSpPr>
        <p:spPr>
          <a:xfrm>
            <a:off x="2537460" y="2845612"/>
            <a:ext cx="63185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:edge-8"/>
          <p:cNvCxnSpPr/>
          <p:nvPr/>
        </p:nvCxnSpPr>
        <p:spPr>
          <a:xfrm>
            <a:off x="3169310" y="2845612"/>
            <a:ext cx="1230782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:edge-8"/>
          <p:cNvCxnSpPr/>
          <p:nvPr/>
        </p:nvCxnSpPr>
        <p:spPr>
          <a:xfrm>
            <a:off x="4400092" y="284561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:edge-8"/>
          <p:cNvCxnSpPr/>
          <p:nvPr/>
        </p:nvCxnSpPr>
        <p:spPr>
          <a:xfrm>
            <a:off x="4400092" y="284561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:edge-8"/>
          <p:cNvCxnSpPr/>
          <p:nvPr/>
        </p:nvCxnSpPr>
        <p:spPr>
          <a:xfrm>
            <a:off x="4400092" y="2845612"/>
            <a:ext cx="0" cy="70957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:edge-8"/>
          <p:cNvCxnSpPr/>
          <p:nvPr/>
        </p:nvCxnSpPr>
        <p:spPr>
          <a:xfrm>
            <a:off x="4400092" y="3555187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:edge-8"/>
          <p:cNvCxnSpPr/>
          <p:nvPr/>
        </p:nvCxnSpPr>
        <p:spPr>
          <a:xfrm>
            <a:off x="4400092" y="3555187"/>
            <a:ext cx="0" cy="77724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conn-label:edge-8"/>
          <p:cNvSpPr txBox="1"/>
          <p:nvPr/>
        </p:nvSpPr>
        <p:spPr>
          <a:xfrm>
            <a:off x="3897172" y="264444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Event Bus Access</a:t>
            </a:r>
          </a:p>
        </p:txBody>
      </p:sp>
      <p:cxnSp>
        <p:nvCxnSpPr>
          <p:cNvPr id="119" name="conn:edge-9"/>
          <p:cNvCxnSpPr/>
          <p:nvPr/>
        </p:nvCxnSpPr>
        <p:spPr>
          <a:xfrm flipH="1">
            <a:off x="4840833" y="5152644"/>
            <a:ext cx="110551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:edge-9"/>
          <p:cNvCxnSpPr/>
          <p:nvPr/>
        </p:nvCxnSpPr>
        <p:spPr>
          <a:xfrm flipH="1">
            <a:off x="1606600" y="5152644"/>
            <a:ext cx="323423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:edge-9"/>
          <p:cNvCxnSpPr/>
          <p:nvPr/>
        </p:nvCxnSpPr>
        <p:spPr>
          <a:xfrm>
            <a:off x="1606600" y="5152644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:edge-9"/>
          <p:cNvCxnSpPr/>
          <p:nvPr/>
        </p:nvCxnSpPr>
        <p:spPr>
          <a:xfrm>
            <a:off x="1606600" y="5152644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:edge-9"/>
          <p:cNvCxnSpPr/>
          <p:nvPr/>
        </p:nvCxnSpPr>
        <p:spPr>
          <a:xfrm flipV="1">
            <a:off x="1606600" y="2789834"/>
            <a:ext cx="0" cy="236281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:edge-9"/>
          <p:cNvCxnSpPr/>
          <p:nvPr/>
        </p:nvCxnSpPr>
        <p:spPr>
          <a:xfrm>
            <a:off x="1606600" y="2789834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:edge-9"/>
          <p:cNvCxnSpPr/>
          <p:nvPr/>
        </p:nvCxnSpPr>
        <p:spPr>
          <a:xfrm>
            <a:off x="1606600" y="2789834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:edge-9"/>
          <p:cNvCxnSpPr/>
          <p:nvPr/>
        </p:nvCxnSpPr>
        <p:spPr>
          <a:xfrm flipH="1">
            <a:off x="1483156" y="2789834"/>
            <a:ext cx="123444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:edge-9"/>
          <p:cNvCxnSpPr/>
          <p:nvPr/>
        </p:nvCxnSpPr>
        <p:spPr>
          <a:xfrm>
            <a:off x="1483156" y="2789834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:edge-9"/>
          <p:cNvCxnSpPr/>
          <p:nvPr/>
        </p:nvCxnSpPr>
        <p:spPr>
          <a:xfrm flipH="1">
            <a:off x="1406347" y="2789834"/>
            <a:ext cx="76809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onn-label:edge-9"/>
          <p:cNvSpPr txBox="1"/>
          <p:nvPr/>
        </p:nvSpPr>
        <p:spPr>
          <a:xfrm>
            <a:off x="1103680" y="2588666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Content Delivery</a:t>
            </a:r>
          </a:p>
        </p:txBody>
      </p:sp>
      <p:cxnSp>
        <p:nvCxnSpPr>
          <p:cNvPr id="130" name="conn:edge-10"/>
          <p:cNvCxnSpPr/>
          <p:nvPr/>
        </p:nvCxnSpPr>
        <p:spPr>
          <a:xfrm flipH="1">
            <a:off x="5864961" y="4967020"/>
            <a:ext cx="7955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:edge-10"/>
          <p:cNvCxnSpPr/>
          <p:nvPr/>
        </p:nvCxnSpPr>
        <p:spPr>
          <a:xfrm flipH="1">
            <a:off x="5802782" y="4967020"/>
            <a:ext cx="62179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:edge-10"/>
          <p:cNvCxnSpPr/>
          <p:nvPr/>
        </p:nvCxnSpPr>
        <p:spPr>
          <a:xfrm>
            <a:off x="5802782" y="4967020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:edge-10"/>
          <p:cNvCxnSpPr/>
          <p:nvPr/>
        </p:nvCxnSpPr>
        <p:spPr>
          <a:xfrm>
            <a:off x="5802782" y="4967020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:edge-10"/>
          <p:cNvCxnSpPr/>
          <p:nvPr/>
        </p:nvCxnSpPr>
        <p:spPr>
          <a:xfrm flipV="1">
            <a:off x="5802782" y="2622499"/>
            <a:ext cx="0" cy="234452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:edge-10"/>
          <p:cNvCxnSpPr/>
          <p:nvPr/>
        </p:nvCxnSpPr>
        <p:spPr>
          <a:xfrm>
            <a:off x="5802782" y="2622499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:edge-10"/>
          <p:cNvCxnSpPr/>
          <p:nvPr/>
        </p:nvCxnSpPr>
        <p:spPr>
          <a:xfrm>
            <a:off x="5802782" y="2622499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:edge-10"/>
          <p:cNvCxnSpPr/>
          <p:nvPr/>
        </p:nvCxnSpPr>
        <p:spPr>
          <a:xfrm flipH="1">
            <a:off x="2614269" y="2622499"/>
            <a:ext cx="318851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:edge-10"/>
          <p:cNvCxnSpPr/>
          <p:nvPr/>
        </p:nvCxnSpPr>
        <p:spPr>
          <a:xfrm>
            <a:off x="2614269" y="2622499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:edge-10"/>
          <p:cNvCxnSpPr/>
          <p:nvPr/>
        </p:nvCxnSpPr>
        <p:spPr>
          <a:xfrm flipH="1">
            <a:off x="2537460" y="2622499"/>
            <a:ext cx="76809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conn-label:edge-10"/>
          <p:cNvSpPr txBox="1"/>
          <p:nvPr/>
        </p:nvSpPr>
        <p:spPr>
          <a:xfrm>
            <a:off x="5299862" y="24213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Content Delivery</a:t>
            </a:r>
          </a:p>
        </p:txBody>
      </p:sp>
      <p:cxnSp>
        <p:nvCxnSpPr>
          <p:cNvPr id="141" name="conn:edge-11"/>
          <p:cNvCxnSpPr/>
          <p:nvPr/>
        </p:nvCxnSpPr>
        <p:spPr>
          <a:xfrm>
            <a:off x="11312042" y="4194352"/>
            <a:ext cx="0" cy="339243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:edge-11"/>
          <p:cNvCxnSpPr/>
          <p:nvPr/>
        </p:nvCxnSpPr>
        <p:spPr>
          <a:xfrm>
            <a:off x="11312042" y="4533595"/>
            <a:ext cx="0" cy="52669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:edge-11"/>
          <p:cNvCxnSpPr/>
          <p:nvPr/>
        </p:nvCxnSpPr>
        <p:spPr>
          <a:xfrm>
            <a:off x="11312042" y="5060289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:edge-11"/>
          <p:cNvCxnSpPr/>
          <p:nvPr/>
        </p:nvCxnSpPr>
        <p:spPr>
          <a:xfrm>
            <a:off x="11312042" y="5060289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:edge-11"/>
          <p:cNvCxnSpPr/>
          <p:nvPr/>
        </p:nvCxnSpPr>
        <p:spPr>
          <a:xfrm flipH="1">
            <a:off x="6754672" y="5060289"/>
            <a:ext cx="455737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:edge-11"/>
          <p:cNvCxnSpPr/>
          <p:nvPr/>
        </p:nvCxnSpPr>
        <p:spPr>
          <a:xfrm>
            <a:off x="6754672" y="5060289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:edge-11"/>
          <p:cNvCxnSpPr/>
          <p:nvPr/>
        </p:nvCxnSpPr>
        <p:spPr>
          <a:xfrm flipH="1">
            <a:off x="6676948" y="5060289"/>
            <a:ext cx="77724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onn-label:edge-11"/>
          <p:cNvSpPr txBox="1"/>
          <p:nvPr/>
        </p:nvSpPr>
        <p:spPr>
          <a:xfrm>
            <a:off x="10809122" y="4859121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Web Application…</a:t>
            </a:r>
          </a:p>
        </p:txBody>
      </p:sp>
      <p:cxnSp>
        <p:nvCxnSpPr>
          <p:cNvPr id="149" name="conn:edge-12"/>
          <p:cNvCxnSpPr/>
          <p:nvPr/>
        </p:nvCxnSpPr>
        <p:spPr>
          <a:xfrm>
            <a:off x="6311188" y="419435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:edge-12"/>
          <p:cNvCxnSpPr/>
          <p:nvPr/>
        </p:nvCxnSpPr>
        <p:spPr>
          <a:xfrm>
            <a:off x="6311188" y="4194352"/>
            <a:ext cx="0" cy="50657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:edge-12"/>
          <p:cNvCxnSpPr/>
          <p:nvPr/>
        </p:nvCxnSpPr>
        <p:spPr>
          <a:xfrm>
            <a:off x="6311188" y="4700930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:edge-12"/>
          <p:cNvCxnSpPr/>
          <p:nvPr/>
        </p:nvCxnSpPr>
        <p:spPr>
          <a:xfrm>
            <a:off x="6311188" y="4700930"/>
            <a:ext cx="0" cy="77724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conn-label:edge-12"/>
          <p:cNvSpPr txBox="1"/>
          <p:nvPr/>
        </p:nvSpPr>
        <p:spPr>
          <a:xfrm>
            <a:off x="5808268" y="4499762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SSL/TLS Certifi…</a:t>
            </a:r>
          </a:p>
        </p:txBody>
      </p:sp>
      <p:sp>
        <p:nvSpPr>
          <p:cNvPr id="154" name="slide-title"/>
          <p:cNvSpPr txBox="1"/>
          <p:nvPr/>
        </p:nvSpPr>
        <p:spPr>
          <a:xfrm>
            <a:off x="274320" y="54864"/>
            <a:ext cx="11643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91F"/>
                </a:solidFill>
                <a:latin typeface="Arial"/>
              </a:rPr>
              <a:t>Highly Available, Secure AWS Deployment Architecture for GIA</a:t>
            </a:r>
          </a:p>
        </p:txBody>
      </p:sp>
      <p:sp>
        <p:nvSpPr>
          <p:cNvPr id="155" name="legend-title"/>
          <p:cNvSpPr txBox="1"/>
          <p:nvPr/>
        </p:nvSpPr>
        <p:spPr>
          <a:xfrm>
            <a:off x="274320" y="6510528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6191F"/>
                </a:solidFill>
                <a:latin typeface="Arial"/>
              </a:rPr>
              <a:t>Legend:</a:t>
            </a:r>
          </a:p>
        </p:txBody>
      </p:sp>
      <p:sp>
        <p:nvSpPr>
          <p:cNvPr id="156" name="legend-swatch:Compute"/>
          <p:cNvSpPr/>
          <p:nvPr/>
        </p:nvSpPr>
        <p:spPr>
          <a:xfrm>
            <a:off x="1051560" y="6547104"/>
            <a:ext cx="146304" cy="146304"/>
          </a:xfrm>
          <a:prstGeom prst="rect">
            <a:avLst/>
          </a:prstGeom>
          <a:solidFill>
            <a:srgbClr val="ED7100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216151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Compute</a:t>
            </a:r>
          </a:p>
        </p:txBody>
      </p:sp>
      <p:sp>
        <p:nvSpPr>
          <p:cNvPr id="158" name="legend-swatch:Database"/>
          <p:cNvSpPr/>
          <p:nvPr/>
        </p:nvSpPr>
        <p:spPr>
          <a:xfrm>
            <a:off x="2194560" y="6547104"/>
            <a:ext cx="146304" cy="146304"/>
          </a:xfrm>
          <a:prstGeom prst="rect">
            <a:avLst/>
          </a:prstGeom>
          <a:solidFill>
            <a:srgbClr val="2E27AD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359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Database</a:t>
            </a:r>
          </a:p>
        </p:txBody>
      </p:sp>
      <p:sp>
        <p:nvSpPr>
          <p:cNvPr id="160" name="legend-swatch:Storage"/>
          <p:cNvSpPr/>
          <p:nvPr/>
        </p:nvSpPr>
        <p:spPr>
          <a:xfrm>
            <a:off x="3337560" y="6547104"/>
            <a:ext cx="146304" cy="146304"/>
          </a:xfrm>
          <a:prstGeom prst="rect">
            <a:avLst/>
          </a:prstGeom>
          <a:solidFill>
            <a:srgbClr val="7AA116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502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Storage</a:t>
            </a:r>
          </a:p>
        </p:txBody>
      </p:sp>
      <p:sp>
        <p:nvSpPr>
          <p:cNvPr id="162" name="legend-swatch:Network"/>
          <p:cNvSpPr/>
          <p:nvPr/>
        </p:nvSpPr>
        <p:spPr>
          <a:xfrm>
            <a:off x="4480560" y="6547104"/>
            <a:ext cx="146304" cy="146304"/>
          </a:xfrm>
          <a:prstGeom prst="rect">
            <a:avLst/>
          </a:prstGeom>
          <a:solidFill>
            <a:srgbClr val="8C4FFF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645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Network</a:t>
            </a:r>
          </a:p>
        </p:txBody>
      </p:sp>
      <p:sp>
        <p:nvSpPr>
          <p:cNvPr id="164" name="legend-swatch:Security"/>
          <p:cNvSpPr/>
          <p:nvPr/>
        </p:nvSpPr>
        <p:spPr>
          <a:xfrm>
            <a:off x="5623560" y="6547104"/>
            <a:ext cx="146304" cy="146304"/>
          </a:xfrm>
          <a:prstGeom prst="rect">
            <a:avLst/>
          </a:prstGeom>
          <a:solidFill>
            <a:srgbClr val="DD344C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788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