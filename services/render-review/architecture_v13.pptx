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ainer:account-1"/>
          <p:cNvSpPr/>
          <p:nvPr/>
        </p:nvSpPr>
        <p:spPr>
          <a:xfrm>
            <a:off x="274320" y="1378000"/>
            <a:ext cx="11643055" cy="4193438"/>
          </a:xfrm>
          <a:prstGeom prst="rect">
            <a:avLst/>
          </a:prstGeom>
          <a:solidFill>
            <a:srgbClr val="FFFFFF"/>
          </a:solidFill>
          <a:ln w="15875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container-title:account-1"/>
          <p:cNvSpPr/>
          <p:nvPr/>
        </p:nvSpPr>
        <p:spPr>
          <a:xfrm>
            <a:off x="274320" y="1378000"/>
            <a:ext cx="982980" cy="23774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AWS Account</a:t>
            </a:r>
          </a:p>
        </p:txBody>
      </p:sp>
      <p:sp>
        <p:nvSpPr>
          <p:cNvPr id="4" name="container:region-1"/>
          <p:cNvSpPr/>
          <p:nvPr/>
        </p:nvSpPr>
        <p:spPr>
          <a:xfrm>
            <a:off x="358444" y="1607515"/>
            <a:ext cx="11474805" cy="3879799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" name="container-title:region-1"/>
          <p:cNvSpPr/>
          <p:nvPr/>
        </p:nvSpPr>
        <p:spPr>
          <a:xfrm>
            <a:off x="358444" y="1607515"/>
            <a:ext cx="905256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AWS Region</a:t>
            </a:r>
          </a:p>
        </p:txBody>
      </p:sp>
      <p:sp>
        <p:nvSpPr>
          <p:cNvPr id="6" name="container:vpc-1"/>
          <p:cNvSpPr/>
          <p:nvPr/>
        </p:nvSpPr>
        <p:spPr>
          <a:xfrm>
            <a:off x="442569" y="1837943"/>
            <a:ext cx="2440533" cy="2638044"/>
          </a:xfrm>
          <a:prstGeom prst="rect">
            <a:avLst/>
          </a:prstGeom>
          <a:solidFill>
            <a:srgbClr val="FFFFFF"/>
          </a:solidFill>
          <a:ln w="15875">
            <a:solidFill>
              <a:srgbClr val="2488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container-title:vpc-1"/>
          <p:cNvSpPr/>
          <p:nvPr/>
        </p:nvSpPr>
        <p:spPr>
          <a:xfrm>
            <a:off x="442569" y="1837943"/>
            <a:ext cx="640080" cy="237744"/>
          </a:xfrm>
          <a:prstGeom prst="rect">
            <a:avLst/>
          </a:prstGeom>
          <a:solidFill>
            <a:srgbClr val="248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VPC</a:t>
            </a:r>
          </a:p>
        </p:txBody>
      </p:sp>
      <p:sp>
        <p:nvSpPr>
          <p:cNvPr id="8" name="container:container-1"/>
          <p:cNvSpPr/>
          <p:nvPr/>
        </p:nvSpPr>
        <p:spPr>
          <a:xfrm>
            <a:off x="8802928" y="3412540"/>
            <a:ext cx="2945282" cy="895197"/>
          </a:xfrm>
          <a:prstGeom prst="rect">
            <a:avLst/>
          </a:prstGeom>
          <a:solidFill>
            <a:srgbClr val="FFFFFF"/>
          </a:solidFill>
          <a:ln w="15875">
            <a:solidFill>
              <a:srgbClr val="7D89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9" name="container-title:container-1"/>
          <p:cNvSpPr/>
          <p:nvPr/>
        </p:nvSpPr>
        <p:spPr>
          <a:xfrm>
            <a:off x="8802928" y="3412540"/>
            <a:ext cx="1604772" cy="237744"/>
          </a:xfrm>
          <a:prstGeom prst="rect">
            <a:avLst/>
          </a:prstGeom>
          <a:solidFill>
            <a:srgbClr val="7D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Security &amp; Identity</a:t>
            </a:r>
          </a:p>
        </p:txBody>
      </p:sp>
      <p:sp>
        <p:nvSpPr>
          <p:cNvPr id="10" name="container:container-2"/>
          <p:cNvSpPr/>
          <p:nvPr/>
        </p:nvSpPr>
        <p:spPr>
          <a:xfrm>
            <a:off x="6389827" y="2296972"/>
            <a:ext cx="1935784" cy="895197"/>
          </a:xfrm>
          <a:prstGeom prst="rect">
            <a:avLst/>
          </a:prstGeom>
          <a:solidFill>
            <a:srgbClr val="FFFFFF"/>
          </a:solidFill>
          <a:ln w="15875">
            <a:solidFill>
              <a:srgbClr val="7D89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1" name="container-title:container-2"/>
          <p:cNvSpPr/>
          <p:nvPr/>
        </p:nvSpPr>
        <p:spPr>
          <a:xfrm>
            <a:off x="6389827" y="2296972"/>
            <a:ext cx="1915668" cy="237744"/>
          </a:xfrm>
          <a:prstGeom prst="rect">
            <a:avLst/>
          </a:prstGeom>
          <a:solidFill>
            <a:srgbClr val="7D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Management &amp; Governance</a:t>
            </a:r>
          </a:p>
        </p:txBody>
      </p:sp>
      <p:sp>
        <p:nvSpPr>
          <p:cNvPr id="12" name="container:az-1"/>
          <p:cNvSpPr/>
          <p:nvPr/>
        </p:nvSpPr>
        <p:spPr>
          <a:xfrm>
            <a:off x="526694" y="2067458"/>
            <a:ext cx="1094536" cy="2324404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3" name="container-title:az-1"/>
          <p:cNvSpPr/>
          <p:nvPr/>
        </p:nvSpPr>
        <p:spPr>
          <a:xfrm>
            <a:off x="526694" y="2067458"/>
            <a:ext cx="1094536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Availability Zone 1</a:t>
            </a:r>
          </a:p>
        </p:txBody>
      </p:sp>
      <p:sp>
        <p:nvSpPr>
          <p:cNvPr id="14" name="container:az-2"/>
          <p:cNvSpPr/>
          <p:nvPr/>
        </p:nvSpPr>
        <p:spPr>
          <a:xfrm>
            <a:off x="1705356" y="2067458"/>
            <a:ext cx="1094536" cy="2324404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5" name="container-title:az-2"/>
          <p:cNvSpPr/>
          <p:nvPr/>
        </p:nvSpPr>
        <p:spPr>
          <a:xfrm>
            <a:off x="1705356" y="2067458"/>
            <a:ext cx="1094536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Availability Zone 2</a:t>
            </a:r>
          </a:p>
        </p:txBody>
      </p:sp>
      <p:sp>
        <p:nvSpPr>
          <p:cNvPr id="16" name="container:subnet-1"/>
          <p:cNvSpPr/>
          <p:nvPr/>
        </p:nvSpPr>
        <p:spPr>
          <a:xfrm>
            <a:off x="610819" y="2296972"/>
            <a:ext cx="925372" cy="895197"/>
          </a:xfrm>
          <a:prstGeom prst="rect">
            <a:avLst/>
          </a:prstGeom>
          <a:solidFill>
            <a:srgbClr val="F5F9EE"/>
          </a:solidFill>
          <a:ln w="1587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7" name="container-title:subnet-1"/>
          <p:cNvSpPr/>
          <p:nvPr/>
        </p:nvSpPr>
        <p:spPr>
          <a:xfrm>
            <a:off x="610819" y="2296972"/>
            <a:ext cx="925372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Public Subnet 1</a:t>
            </a:r>
          </a:p>
        </p:txBody>
      </p:sp>
      <p:sp>
        <p:nvSpPr>
          <p:cNvPr id="18" name="container:subnet-2"/>
          <p:cNvSpPr/>
          <p:nvPr/>
        </p:nvSpPr>
        <p:spPr>
          <a:xfrm>
            <a:off x="610819" y="3412540"/>
            <a:ext cx="925372" cy="895197"/>
          </a:xfrm>
          <a:prstGeom prst="rect">
            <a:avLst/>
          </a:prstGeom>
          <a:solidFill>
            <a:srgbClr val="F2FBFC"/>
          </a:solidFill>
          <a:ln w="15875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9" name="container-title:subnet-2"/>
          <p:cNvSpPr/>
          <p:nvPr/>
        </p:nvSpPr>
        <p:spPr>
          <a:xfrm>
            <a:off x="610819" y="3412540"/>
            <a:ext cx="925372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Private Subnet 1</a:t>
            </a:r>
          </a:p>
        </p:txBody>
      </p:sp>
      <p:sp>
        <p:nvSpPr>
          <p:cNvPr id="20" name="container:subnet-3"/>
          <p:cNvSpPr/>
          <p:nvPr/>
        </p:nvSpPr>
        <p:spPr>
          <a:xfrm>
            <a:off x="1789480" y="2296972"/>
            <a:ext cx="925372" cy="895197"/>
          </a:xfrm>
          <a:prstGeom prst="rect">
            <a:avLst/>
          </a:prstGeom>
          <a:solidFill>
            <a:srgbClr val="F5F9EE"/>
          </a:solidFill>
          <a:ln w="1587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1" name="container-title:subnet-3"/>
          <p:cNvSpPr/>
          <p:nvPr/>
        </p:nvSpPr>
        <p:spPr>
          <a:xfrm>
            <a:off x="1789480" y="2296972"/>
            <a:ext cx="925372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Public Subnet 2</a:t>
            </a:r>
          </a:p>
        </p:txBody>
      </p:sp>
      <p:sp>
        <p:nvSpPr>
          <p:cNvPr id="22" name="container:subnet-4"/>
          <p:cNvSpPr/>
          <p:nvPr/>
        </p:nvSpPr>
        <p:spPr>
          <a:xfrm>
            <a:off x="1789480" y="3412540"/>
            <a:ext cx="925372" cy="895197"/>
          </a:xfrm>
          <a:prstGeom prst="rect">
            <a:avLst/>
          </a:prstGeom>
          <a:solidFill>
            <a:srgbClr val="F2FBFC"/>
          </a:solidFill>
          <a:ln w="15875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3" name="container-title:subnet-4"/>
          <p:cNvSpPr/>
          <p:nvPr/>
        </p:nvSpPr>
        <p:spPr>
          <a:xfrm>
            <a:off x="1789480" y="3412540"/>
            <a:ext cx="925372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Private Subnet 2</a:t>
            </a:r>
          </a:p>
        </p:txBody>
      </p:sp>
      <p:pic>
        <p:nvPicPr>
          <p:cNvPr id="24" name="icon:ecs-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2" y="2526487"/>
            <a:ext cx="348386" cy="348386"/>
          </a:xfrm>
          <a:prstGeom prst="rect">
            <a:avLst/>
          </a:prstGeom>
        </p:spPr>
      </p:pic>
      <p:sp>
        <p:nvSpPr>
          <p:cNvPr id="25" name="icon-label:ecs-1"/>
          <p:cNvSpPr txBox="1"/>
          <p:nvPr/>
        </p:nvSpPr>
        <p:spPr>
          <a:xfrm>
            <a:off x="694944" y="2874873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ECS</a:t>
            </a:r>
          </a:p>
        </p:txBody>
      </p:sp>
      <p:pic>
        <p:nvPicPr>
          <p:cNvPr id="26" name="icon:rds-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12" y="3642055"/>
            <a:ext cx="348386" cy="348386"/>
          </a:xfrm>
          <a:prstGeom prst="rect">
            <a:avLst/>
          </a:prstGeom>
        </p:spPr>
      </p:pic>
      <p:sp>
        <p:nvSpPr>
          <p:cNvPr id="27" name="icon-label:rds-1"/>
          <p:cNvSpPr txBox="1"/>
          <p:nvPr/>
        </p:nvSpPr>
        <p:spPr>
          <a:xfrm>
            <a:off x="694944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RDS</a:t>
            </a:r>
          </a:p>
        </p:txBody>
      </p:sp>
      <p:pic>
        <p:nvPicPr>
          <p:cNvPr id="28" name="icon:ecs-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974" y="2526487"/>
            <a:ext cx="348386" cy="348386"/>
          </a:xfrm>
          <a:prstGeom prst="rect">
            <a:avLst/>
          </a:prstGeom>
        </p:spPr>
      </p:pic>
      <p:sp>
        <p:nvSpPr>
          <p:cNvPr id="29" name="icon-label:ecs-2"/>
          <p:cNvSpPr txBox="1"/>
          <p:nvPr/>
        </p:nvSpPr>
        <p:spPr>
          <a:xfrm>
            <a:off x="1873605" y="2874873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ECS</a:t>
            </a:r>
          </a:p>
        </p:txBody>
      </p:sp>
      <p:pic>
        <p:nvPicPr>
          <p:cNvPr id="30" name="icon:rds-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3642055"/>
            <a:ext cx="348386" cy="348386"/>
          </a:xfrm>
          <a:prstGeom prst="rect">
            <a:avLst/>
          </a:prstGeom>
        </p:spPr>
      </p:pic>
      <p:sp>
        <p:nvSpPr>
          <p:cNvPr id="31" name="icon-label:rds-2"/>
          <p:cNvSpPr txBox="1"/>
          <p:nvPr/>
        </p:nvSpPr>
        <p:spPr>
          <a:xfrm>
            <a:off x="1873605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RDS Read Replica</a:t>
            </a:r>
          </a:p>
        </p:txBody>
      </p:sp>
      <p:sp>
        <p:nvSpPr>
          <p:cNvPr id="32" name="icon:iam-1"/>
          <p:cNvSpPr/>
          <p:nvPr/>
        </p:nvSpPr>
        <p:spPr>
          <a:xfrm>
            <a:off x="9091422" y="3642055"/>
            <a:ext cx="348386" cy="348386"/>
          </a:xfrm>
          <a:prstGeom prst="roundRect">
            <a:avLst/>
          </a:prstGeom>
          <a:solidFill>
            <a:srgbClr val="146EB4"/>
          </a:solidFill>
          <a:ln w="12700">
            <a:solidFill>
              <a:srgbClr val="0E4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3" name="icon-label:iam-1"/>
          <p:cNvSpPr txBox="1"/>
          <p:nvPr/>
        </p:nvSpPr>
        <p:spPr>
          <a:xfrm>
            <a:off x="8887053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IAM</a:t>
            </a:r>
          </a:p>
        </p:txBody>
      </p:sp>
      <p:sp>
        <p:nvSpPr>
          <p:cNvPr id="34" name="icon:kms-1"/>
          <p:cNvSpPr/>
          <p:nvPr/>
        </p:nvSpPr>
        <p:spPr>
          <a:xfrm>
            <a:off x="10101834" y="3642055"/>
            <a:ext cx="348386" cy="348386"/>
          </a:xfrm>
          <a:prstGeom prst="roundRect">
            <a:avLst/>
          </a:prstGeom>
          <a:solidFill>
            <a:srgbClr val="146EB4"/>
          </a:solidFill>
          <a:ln w="12700">
            <a:solidFill>
              <a:srgbClr val="0E4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5" name="icon-label:kms-1"/>
          <p:cNvSpPr txBox="1"/>
          <p:nvPr/>
        </p:nvSpPr>
        <p:spPr>
          <a:xfrm>
            <a:off x="9897465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KMS</a:t>
            </a:r>
          </a:p>
        </p:txBody>
      </p:sp>
      <p:sp>
        <p:nvSpPr>
          <p:cNvPr id="36" name="icon:waf-1"/>
          <p:cNvSpPr/>
          <p:nvPr/>
        </p:nvSpPr>
        <p:spPr>
          <a:xfrm>
            <a:off x="11111331" y="3642055"/>
            <a:ext cx="348386" cy="348386"/>
          </a:xfrm>
          <a:prstGeom prst="roundRect">
            <a:avLst/>
          </a:prstGeom>
          <a:solidFill>
            <a:srgbClr val="146EB4"/>
          </a:solidFill>
          <a:ln w="12700">
            <a:solidFill>
              <a:srgbClr val="0E4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7" name="icon-label:waf-1"/>
          <p:cNvSpPr txBox="1"/>
          <p:nvPr/>
        </p:nvSpPr>
        <p:spPr>
          <a:xfrm>
            <a:off x="10906963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WAF</a:t>
            </a:r>
          </a:p>
        </p:txBody>
      </p:sp>
      <p:pic>
        <p:nvPicPr>
          <p:cNvPr id="38" name="icon:cloudwatch-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234" y="2526487"/>
            <a:ext cx="348386" cy="348386"/>
          </a:xfrm>
          <a:prstGeom prst="rect">
            <a:avLst/>
          </a:prstGeom>
        </p:spPr>
      </p:pic>
      <p:sp>
        <p:nvSpPr>
          <p:cNvPr id="39" name="icon-label:cloudwatch-1"/>
          <p:cNvSpPr txBox="1"/>
          <p:nvPr/>
        </p:nvSpPr>
        <p:spPr>
          <a:xfrm>
            <a:off x="6474866" y="2874873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CloudWatch</a:t>
            </a:r>
          </a:p>
        </p:txBody>
      </p:sp>
      <p:sp>
        <p:nvSpPr>
          <p:cNvPr id="40" name="icon:cloudtrail-1"/>
          <p:cNvSpPr/>
          <p:nvPr/>
        </p:nvSpPr>
        <p:spPr>
          <a:xfrm>
            <a:off x="7688732" y="2526487"/>
            <a:ext cx="348386" cy="348386"/>
          </a:xfrm>
          <a:prstGeom prst="roundRect">
            <a:avLst/>
          </a:prstGeom>
          <a:solidFill>
            <a:srgbClr val="146EB4"/>
          </a:solidFill>
          <a:ln w="12700">
            <a:solidFill>
              <a:srgbClr val="0E4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1" name="icon-label:cloudtrail-1"/>
          <p:cNvSpPr txBox="1"/>
          <p:nvPr/>
        </p:nvSpPr>
        <p:spPr>
          <a:xfrm>
            <a:off x="7484364" y="2874873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CloudTrail</a:t>
            </a:r>
          </a:p>
        </p:txBody>
      </p:sp>
      <p:pic>
        <p:nvPicPr>
          <p:cNvPr id="42" name="icon:s3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482" y="3642055"/>
            <a:ext cx="348386" cy="348386"/>
          </a:xfrm>
          <a:prstGeom prst="rect">
            <a:avLst/>
          </a:prstGeom>
        </p:spPr>
      </p:pic>
      <p:sp>
        <p:nvSpPr>
          <p:cNvPr id="43" name="icon-label:s3-1"/>
          <p:cNvSpPr txBox="1"/>
          <p:nvPr/>
        </p:nvSpPr>
        <p:spPr>
          <a:xfrm>
            <a:off x="5030114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S3</a:t>
            </a:r>
          </a:p>
        </p:txBody>
      </p:sp>
      <p:pic>
        <p:nvPicPr>
          <p:cNvPr id="44" name="icon:sqs-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573" y="3642055"/>
            <a:ext cx="348386" cy="348386"/>
          </a:xfrm>
          <a:prstGeom prst="rect">
            <a:avLst/>
          </a:prstGeom>
        </p:spPr>
      </p:pic>
      <p:sp>
        <p:nvSpPr>
          <p:cNvPr id="45" name="icon-label:sqs-1"/>
          <p:cNvSpPr txBox="1"/>
          <p:nvPr/>
        </p:nvSpPr>
        <p:spPr>
          <a:xfrm>
            <a:off x="3010204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SQS</a:t>
            </a:r>
          </a:p>
        </p:txBody>
      </p:sp>
      <p:pic>
        <p:nvPicPr>
          <p:cNvPr id="46" name="icon:eventbridge-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070" y="3642055"/>
            <a:ext cx="348386" cy="348386"/>
          </a:xfrm>
          <a:prstGeom prst="rect">
            <a:avLst/>
          </a:prstGeom>
        </p:spPr>
      </p:pic>
      <p:sp>
        <p:nvSpPr>
          <p:cNvPr id="47" name="icon-label:eventbridge-1"/>
          <p:cNvSpPr txBox="1"/>
          <p:nvPr/>
        </p:nvSpPr>
        <p:spPr>
          <a:xfrm>
            <a:off x="4019702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EventBridge</a:t>
            </a:r>
          </a:p>
        </p:txBody>
      </p:sp>
      <p:pic>
        <p:nvPicPr>
          <p:cNvPr id="48" name="icon:cloudfront-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980" y="4780483"/>
            <a:ext cx="348386" cy="348386"/>
          </a:xfrm>
          <a:prstGeom prst="rect">
            <a:avLst/>
          </a:prstGeom>
        </p:spPr>
      </p:pic>
      <p:sp>
        <p:nvSpPr>
          <p:cNvPr id="49" name="icon-label:cloudfront-1"/>
          <p:cNvSpPr txBox="1"/>
          <p:nvPr/>
        </p:nvSpPr>
        <p:spPr>
          <a:xfrm>
            <a:off x="6039612" y="5128869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CloudFront</a:t>
            </a:r>
          </a:p>
        </p:txBody>
      </p:sp>
      <p:sp>
        <p:nvSpPr>
          <p:cNvPr id="50" name="icon:acm-1"/>
          <p:cNvSpPr/>
          <p:nvPr/>
        </p:nvSpPr>
        <p:spPr>
          <a:xfrm>
            <a:off x="6243980" y="3642055"/>
            <a:ext cx="348386" cy="348386"/>
          </a:xfrm>
          <a:prstGeom prst="roundRect">
            <a:avLst/>
          </a:prstGeom>
          <a:solidFill>
            <a:srgbClr val="146EB4"/>
          </a:solidFill>
          <a:ln w="12700">
            <a:solidFill>
              <a:srgbClr val="0E4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1" name="icon-label:acm-1"/>
          <p:cNvSpPr txBox="1"/>
          <p:nvPr/>
        </p:nvSpPr>
        <p:spPr>
          <a:xfrm>
            <a:off x="6039612" y="3990441"/>
            <a:ext cx="757123" cy="232257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ACM</a:t>
            </a:r>
          </a:p>
        </p:txBody>
      </p:sp>
      <p:cxnSp>
        <p:nvCxnSpPr>
          <p:cNvPr id="52" name="conn:edge-1"/>
          <p:cNvCxnSpPr/>
          <p:nvPr/>
        </p:nvCxnSpPr>
        <p:spPr>
          <a:xfrm>
            <a:off x="1073505" y="3110788"/>
            <a:ext cx="0" cy="13716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:edge-1"/>
          <p:cNvCxnSpPr/>
          <p:nvPr/>
        </p:nvCxnSpPr>
        <p:spPr>
          <a:xfrm>
            <a:off x="1073505" y="3247948"/>
            <a:ext cx="0" cy="16642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:edge-1"/>
          <p:cNvCxnSpPr/>
          <p:nvPr/>
        </p:nvCxnSpPr>
        <p:spPr>
          <a:xfrm>
            <a:off x="1073505" y="3414369"/>
            <a:ext cx="0" cy="14630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:edge-1"/>
          <p:cNvCxnSpPr/>
          <p:nvPr/>
        </p:nvCxnSpPr>
        <p:spPr>
          <a:xfrm>
            <a:off x="1073505" y="3560673"/>
            <a:ext cx="0" cy="79553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onn-label:edge-1"/>
          <p:cNvSpPr txBox="1"/>
          <p:nvPr/>
        </p:nvSpPr>
        <p:spPr>
          <a:xfrm>
            <a:off x="570585" y="3213201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Database Connec…</a:t>
            </a:r>
          </a:p>
        </p:txBody>
      </p:sp>
      <p:cxnSp>
        <p:nvCxnSpPr>
          <p:cNvPr id="57" name="conn:edge-2"/>
          <p:cNvCxnSpPr/>
          <p:nvPr/>
        </p:nvCxnSpPr>
        <p:spPr>
          <a:xfrm>
            <a:off x="2252167" y="3110788"/>
            <a:ext cx="0" cy="13716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:edge-2"/>
          <p:cNvCxnSpPr/>
          <p:nvPr/>
        </p:nvCxnSpPr>
        <p:spPr>
          <a:xfrm>
            <a:off x="2252167" y="3247948"/>
            <a:ext cx="0" cy="16642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:edge-2"/>
          <p:cNvCxnSpPr/>
          <p:nvPr/>
        </p:nvCxnSpPr>
        <p:spPr>
          <a:xfrm>
            <a:off x="2252167" y="3414369"/>
            <a:ext cx="0" cy="14630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:edge-2"/>
          <p:cNvCxnSpPr/>
          <p:nvPr/>
        </p:nvCxnSpPr>
        <p:spPr>
          <a:xfrm>
            <a:off x="2252167" y="3560673"/>
            <a:ext cx="0" cy="79553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onn-label:edge-2"/>
          <p:cNvSpPr txBox="1"/>
          <p:nvPr/>
        </p:nvSpPr>
        <p:spPr>
          <a:xfrm>
            <a:off x="1749247" y="3213201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Database Connec…</a:t>
            </a:r>
          </a:p>
        </p:txBody>
      </p:sp>
      <p:cxnSp>
        <p:nvCxnSpPr>
          <p:cNvPr id="62" name="conn:edge-3"/>
          <p:cNvCxnSpPr/>
          <p:nvPr/>
        </p:nvCxnSpPr>
        <p:spPr>
          <a:xfrm>
            <a:off x="1453896" y="3078784"/>
            <a:ext cx="85953" cy="4572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:edge-3"/>
          <p:cNvCxnSpPr/>
          <p:nvPr/>
        </p:nvCxnSpPr>
        <p:spPr>
          <a:xfrm>
            <a:off x="1539849" y="3124504"/>
            <a:ext cx="93269" cy="4206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:edge-3"/>
          <p:cNvCxnSpPr/>
          <p:nvPr/>
        </p:nvCxnSpPr>
        <p:spPr>
          <a:xfrm>
            <a:off x="1633118" y="3166567"/>
            <a:ext cx="93269" cy="2468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:edge-3"/>
          <p:cNvCxnSpPr/>
          <p:nvPr/>
        </p:nvCxnSpPr>
        <p:spPr>
          <a:xfrm>
            <a:off x="1726387" y="3191256"/>
            <a:ext cx="229514" cy="6309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:edge-3"/>
          <p:cNvCxnSpPr/>
          <p:nvPr/>
        </p:nvCxnSpPr>
        <p:spPr>
          <a:xfrm flipV="1">
            <a:off x="1955901" y="3112617"/>
            <a:ext cx="3888943" cy="14173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:edge-3"/>
          <p:cNvCxnSpPr/>
          <p:nvPr/>
        </p:nvCxnSpPr>
        <p:spPr>
          <a:xfrm>
            <a:off x="5844844" y="3112617"/>
            <a:ext cx="166421" cy="17007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:edge-3"/>
          <p:cNvCxnSpPr/>
          <p:nvPr/>
        </p:nvCxnSpPr>
        <p:spPr>
          <a:xfrm>
            <a:off x="6011265" y="3282696"/>
            <a:ext cx="23775" cy="2377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:edge-3"/>
          <p:cNvCxnSpPr/>
          <p:nvPr/>
        </p:nvCxnSpPr>
        <p:spPr>
          <a:xfrm flipH="1">
            <a:off x="6027724" y="3306470"/>
            <a:ext cx="7316" cy="2103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:edge-3"/>
          <p:cNvCxnSpPr/>
          <p:nvPr/>
        </p:nvCxnSpPr>
        <p:spPr>
          <a:xfrm flipH="1">
            <a:off x="6011265" y="3327501"/>
            <a:ext cx="16459" cy="2834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:edge-3"/>
          <p:cNvCxnSpPr/>
          <p:nvPr/>
        </p:nvCxnSpPr>
        <p:spPr>
          <a:xfrm flipH="1">
            <a:off x="5986576" y="3355848"/>
            <a:ext cx="24689" cy="4389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:edge-3"/>
          <p:cNvCxnSpPr/>
          <p:nvPr/>
        </p:nvCxnSpPr>
        <p:spPr>
          <a:xfrm flipH="1" flipV="1">
            <a:off x="5953658" y="3381451"/>
            <a:ext cx="32918" cy="1828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:edge-3"/>
          <p:cNvCxnSpPr/>
          <p:nvPr/>
        </p:nvCxnSpPr>
        <p:spPr>
          <a:xfrm flipH="1">
            <a:off x="5913424" y="3381451"/>
            <a:ext cx="40234" cy="3108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:edge-3"/>
          <p:cNvCxnSpPr/>
          <p:nvPr/>
        </p:nvCxnSpPr>
        <p:spPr>
          <a:xfrm flipH="1">
            <a:off x="5846673" y="3412540"/>
            <a:ext cx="66751" cy="5120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:edge-3"/>
          <p:cNvCxnSpPr/>
          <p:nvPr/>
        </p:nvCxnSpPr>
        <p:spPr>
          <a:xfrm flipH="1">
            <a:off x="5779922" y="3463747"/>
            <a:ext cx="66751" cy="6035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:edge-3"/>
          <p:cNvCxnSpPr/>
          <p:nvPr/>
        </p:nvCxnSpPr>
        <p:spPr>
          <a:xfrm flipH="1">
            <a:off x="5717743" y="3524097"/>
            <a:ext cx="62179" cy="59436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:edge-3"/>
          <p:cNvCxnSpPr/>
          <p:nvPr/>
        </p:nvCxnSpPr>
        <p:spPr>
          <a:xfrm flipH="1">
            <a:off x="5662879" y="3583533"/>
            <a:ext cx="54864" cy="55779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onn-label:edge-3"/>
          <p:cNvSpPr txBox="1"/>
          <p:nvPr/>
        </p:nvSpPr>
        <p:spPr>
          <a:xfrm>
            <a:off x="5524804" y="3126333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Object Storage…</a:t>
            </a:r>
          </a:p>
        </p:txBody>
      </p:sp>
      <p:cxnSp>
        <p:nvCxnSpPr>
          <p:cNvPr id="79" name="conn:edge-4"/>
          <p:cNvCxnSpPr/>
          <p:nvPr/>
        </p:nvCxnSpPr>
        <p:spPr>
          <a:xfrm>
            <a:off x="2633472" y="2858414"/>
            <a:ext cx="1151229" cy="10241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:edge-4"/>
          <p:cNvCxnSpPr/>
          <p:nvPr/>
        </p:nvCxnSpPr>
        <p:spPr>
          <a:xfrm>
            <a:off x="3784701" y="2960827"/>
            <a:ext cx="3357677" cy="30083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:edge-4"/>
          <p:cNvCxnSpPr/>
          <p:nvPr/>
        </p:nvCxnSpPr>
        <p:spPr>
          <a:xfrm>
            <a:off x="7142378" y="3261664"/>
            <a:ext cx="19202" cy="2103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:edge-4"/>
          <p:cNvCxnSpPr/>
          <p:nvPr/>
        </p:nvCxnSpPr>
        <p:spPr>
          <a:xfrm>
            <a:off x="7161580" y="3282696"/>
            <a:ext cx="22860" cy="2468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:edge-4"/>
          <p:cNvCxnSpPr/>
          <p:nvPr/>
        </p:nvCxnSpPr>
        <p:spPr>
          <a:xfrm>
            <a:off x="7184440" y="3307384"/>
            <a:ext cx="0" cy="2560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:edge-4"/>
          <p:cNvCxnSpPr/>
          <p:nvPr/>
        </p:nvCxnSpPr>
        <p:spPr>
          <a:xfrm flipH="1">
            <a:off x="7161580" y="3332988"/>
            <a:ext cx="22860" cy="2286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:edge-4"/>
          <p:cNvCxnSpPr/>
          <p:nvPr/>
        </p:nvCxnSpPr>
        <p:spPr>
          <a:xfrm flipH="1">
            <a:off x="7065568" y="3355848"/>
            <a:ext cx="96012" cy="10058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:edge-4"/>
          <p:cNvCxnSpPr/>
          <p:nvPr/>
        </p:nvCxnSpPr>
        <p:spPr>
          <a:xfrm flipH="1" flipV="1">
            <a:off x="6040526" y="3355848"/>
            <a:ext cx="1025042" cy="10058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:edge-4"/>
          <p:cNvCxnSpPr/>
          <p:nvPr/>
        </p:nvCxnSpPr>
        <p:spPr>
          <a:xfrm flipH="1">
            <a:off x="5913424" y="3355848"/>
            <a:ext cx="127102" cy="5669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:edge-4"/>
          <p:cNvCxnSpPr/>
          <p:nvPr/>
        </p:nvCxnSpPr>
        <p:spPr>
          <a:xfrm flipH="1">
            <a:off x="5823813" y="3412540"/>
            <a:ext cx="89611" cy="3932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:edge-4"/>
          <p:cNvCxnSpPr/>
          <p:nvPr/>
        </p:nvCxnSpPr>
        <p:spPr>
          <a:xfrm flipH="1">
            <a:off x="5742432" y="3451860"/>
            <a:ext cx="81381" cy="6309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:edge-4"/>
          <p:cNvCxnSpPr/>
          <p:nvPr/>
        </p:nvCxnSpPr>
        <p:spPr>
          <a:xfrm flipH="1">
            <a:off x="5672023" y="3514953"/>
            <a:ext cx="70409" cy="6949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:edge-4"/>
          <p:cNvCxnSpPr/>
          <p:nvPr/>
        </p:nvCxnSpPr>
        <p:spPr>
          <a:xfrm flipH="1">
            <a:off x="5618073" y="3584448"/>
            <a:ext cx="53950" cy="55778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onn-label:edge-4"/>
          <p:cNvSpPr txBox="1"/>
          <p:nvPr/>
        </p:nvSpPr>
        <p:spPr>
          <a:xfrm>
            <a:off x="6562648" y="3255263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Object Storage…</a:t>
            </a:r>
          </a:p>
        </p:txBody>
      </p:sp>
      <p:cxnSp>
        <p:nvCxnSpPr>
          <p:cNvPr id="93" name="conn:edge-5"/>
          <p:cNvCxnSpPr/>
          <p:nvPr/>
        </p:nvCxnSpPr>
        <p:spPr>
          <a:xfrm>
            <a:off x="1454810" y="3074212"/>
            <a:ext cx="85954" cy="4663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:edge-5"/>
          <p:cNvCxnSpPr/>
          <p:nvPr/>
        </p:nvCxnSpPr>
        <p:spPr>
          <a:xfrm>
            <a:off x="1540764" y="3120847"/>
            <a:ext cx="93268" cy="4206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:edge-5"/>
          <p:cNvCxnSpPr/>
          <p:nvPr/>
        </p:nvCxnSpPr>
        <p:spPr>
          <a:xfrm>
            <a:off x="1634032" y="3162909"/>
            <a:ext cx="92355" cy="2834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:edge-5"/>
          <p:cNvCxnSpPr/>
          <p:nvPr/>
        </p:nvCxnSpPr>
        <p:spPr>
          <a:xfrm>
            <a:off x="1726387" y="3191256"/>
            <a:ext cx="240487" cy="74066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:edge-5"/>
          <p:cNvCxnSpPr/>
          <p:nvPr/>
        </p:nvCxnSpPr>
        <p:spPr>
          <a:xfrm flipV="1">
            <a:off x="1966874" y="3166567"/>
            <a:ext cx="665683" cy="9875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:edge-5"/>
          <p:cNvCxnSpPr/>
          <p:nvPr/>
        </p:nvCxnSpPr>
        <p:spPr>
          <a:xfrm>
            <a:off x="2632557" y="3166567"/>
            <a:ext cx="223114" cy="11612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:edge-5"/>
          <p:cNvCxnSpPr/>
          <p:nvPr/>
        </p:nvCxnSpPr>
        <p:spPr>
          <a:xfrm>
            <a:off x="2855671" y="3282696"/>
            <a:ext cx="128930" cy="6766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:edge-5"/>
          <p:cNvCxnSpPr/>
          <p:nvPr/>
        </p:nvCxnSpPr>
        <p:spPr>
          <a:xfrm>
            <a:off x="2984601" y="3350361"/>
            <a:ext cx="109728" cy="11247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:edge-5"/>
          <p:cNvCxnSpPr/>
          <p:nvPr/>
        </p:nvCxnSpPr>
        <p:spPr>
          <a:xfrm>
            <a:off x="3094329" y="3462832"/>
            <a:ext cx="85954" cy="113386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:edge-5"/>
          <p:cNvCxnSpPr/>
          <p:nvPr/>
        </p:nvCxnSpPr>
        <p:spPr>
          <a:xfrm>
            <a:off x="3180283" y="3576218"/>
            <a:ext cx="44805" cy="62179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onn-label:edge-5"/>
          <p:cNvSpPr txBox="1"/>
          <p:nvPr/>
        </p:nvSpPr>
        <p:spPr>
          <a:xfrm>
            <a:off x="2129637" y="2965399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Message Queue A…</a:t>
            </a:r>
          </a:p>
        </p:txBody>
      </p:sp>
      <p:cxnSp>
        <p:nvCxnSpPr>
          <p:cNvPr id="104" name="conn:edge-6"/>
          <p:cNvCxnSpPr/>
          <p:nvPr/>
        </p:nvCxnSpPr>
        <p:spPr>
          <a:xfrm>
            <a:off x="2633472" y="2885846"/>
            <a:ext cx="405079" cy="7498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:edge-6"/>
          <p:cNvCxnSpPr/>
          <p:nvPr/>
        </p:nvCxnSpPr>
        <p:spPr>
          <a:xfrm>
            <a:off x="3038551" y="2960827"/>
            <a:ext cx="598932" cy="13807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:edge-6"/>
          <p:cNvCxnSpPr/>
          <p:nvPr/>
        </p:nvCxnSpPr>
        <p:spPr>
          <a:xfrm>
            <a:off x="3637483" y="3098901"/>
            <a:ext cx="137160" cy="18379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:edge-6"/>
          <p:cNvCxnSpPr/>
          <p:nvPr/>
        </p:nvCxnSpPr>
        <p:spPr>
          <a:xfrm>
            <a:off x="3774643" y="3282696"/>
            <a:ext cx="66751" cy="9052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:edge-6"/>
          <p:cNvCxnSpPr/>
          <p:nvPr/>
        </p:nvCxnSpPr>
        <p:spPr>
          <a:xfrm flipH="1">
            <a:off x="3818534" y="3373221"/>
            <a:ext cx="22860" cy="10332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:edge-6"/>
          <p:cNvCxnSpPr/>
          <p:nvPr/>
        </p:nvCxnSpPr>
        <p:spPr>
          <a:xfrm flipH="1">
            <a:off x="3759098" y="3476548"/>
            <a:ext cx="59436" cy="9692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:edge-6"/>
          <p:cNvCxnSpPr/>
          <p:nvPr/>
        </p:nvCxnSpPr>
        <p:spPr>
          <a:xfrm flipH="1">
            <a:off x="3712463" y="3573475"/>
            <a:ext cx="46635" cy="65837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onn-label:edge-6"/>
          <p:cNvSpPr txBox="1"/>
          <p:nvPr/>
        </p:nvSpPr>
        <p:spPr>
          <a:xfrm>
            <a:off x="3338474" y="3172053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Message Queue A…</a:t>
            </a:r>
          </a:p>
        </p:txBody>
      </p:sp>
      <p:cxnSp>
        <p:nvCxnSpPr>
          <p:cNvPr id="112" name="conn:edge-7"/>
          <p:cNvCxnSpPr/>
          <p:nvPr/>
        </p:nvCxnSpPr>
        <p:spPr>
          <a:xfrm>
            <a:off x="1453896" y="3077870"/>
            <a:ext cx="85953" cy="4572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:edge-7"/>
          <p:cNvCxnSpPr/>
          <p:nvPr/>
        </p:nvCxnSpPr>
        <p:spPr>
          <a:xfrm>
            <a:off x="1539849" y="3123590"/>
            <a:ext cx="94183" cy="4206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:edge-7"/>
          <p:cNvCxnSpPr/>
          <p:nvPr/>
        </p:nvCxnSpPr>
        <p:spPr>
          <a:xfrm>
            <a:off x="1634032" y="3165652"/>
            <a:ext cx="92355" cy="2560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:edge-7"/>
          <p:cNvCxnSpPr/>
          <p:nvPr/>
        </p:nvCxnSpPr>
        <p:spPr>
          <a:xfrm>
            <a:off x="1726387" y="3191256"/>
            <a:ext cx="148132" cy="4114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:edge-7"/>
          <p:cNvCxnSpPr/>
          <p:nvPr/>
        </p:nvCxnSpPr>
        <p:spPr>
          <a:xfrm flipV="1">
            <a:off x="1874519" y="3172053"/>
            <a:ext cx="2514601" cy="6035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:edge-7"/>
          <p:cNvCxnSpPr/>
          <p:nvPr/>
        </p:nvCxnSpPr>
        <p:spPr>
          <a:xfrm>
            <a:off x="4389120" y="3172053"/>
            <a:ext cx="106984" cy="11064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:edge-7"/>
          <p:cNvCxnSpPr/>
          <p:nvPr/>
        </p:nvCxnSpPr>
        <p:spPr>
          <a:xfrm>
            <a:off x="4496104" y="3282696"/>
            <a:ext cx="72238" cy="74066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:edge-7"/>
          <p:cNvCxnSpPr/>
          <p:nvPr/>
        </p:nvCxnSpPr>
        <p:spPr>
          <a:xfrm>
            <a:off x="4568342" y="3356762"/>
            <a:ext cx="8230" cy="10424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:edge-7"/>
          <p:cNvCxnSpPr/>
          <p:nvPr/>
        </p:nvCxnSpPr>
        <p:spPr>
          <a:xfrm flipH="1">
            <a:off x="4557369" y="3461004"/>
            <a:ext cx="19203" cy="10149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:edge-7"/>
          <p:cNvCxnSpPr/>
          <p:nvPr/>
        </p:nvCxnSpPr>
        <p:spPr>
          <a:xfrm flipH="1">
            <a:off x="4537252" y="3562502"/>
            <a:ext cx="20117" cy="77724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onn-label:edge-7"/>
          <p:cNvSpPr txBox="1"/>
          <p:nvPr/>
        </p:nvSpPr>
        <p:spPr>
          <a:xfrm>
            <a:off x="3886200" y="2970885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Event Bus Access</a:t>
            </a:r>
          </a:p>
        </p:txBody>
      </p:sp>
      <p:cxnSp>
        <p:nvCxnSpPr>
          <p:cNvPr id="123" name="conn:edge-8"/>
          <p:cNvCxnSpPr/>
          <p:nvPr/>
        </p:nvCxnSpPr>
        <p:spPr>
          <a:xfrm flipV="1">
            <a:off x="2632557" y="2818180"/>
            <a:ext cx="768096" cy="91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:edge-8"/>
          <p:cNvCxnSpPr/>
          <p:nvPr/>
        </p:nvCxnSpPr>
        <p:spPr>
          <a:xfrm>
            <a:off x="3400653" y="2818180"/>
            <a:ext cx="1694383" cy="4663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:edge-8"/>
          <p:cNvCxnSpPr/>
          <p:nvPr/>
        </p:nvCxnSpPr>
        <p:spPr>
          <a:xfrm>
            <a:off x="5095036" y="2864815"/>
            <a:ext cx="362103" cy="41788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:edge-8"/>
          <p:cNvCxnSpPr/>
          <p:nvPr/>
        </p:nvCxnSpPr>
        <p:spPr>
          <a:xfrm>
            <a:off x="5457139" y="3282696"/>
            <a:ext cx="21945" cy="2468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:edge-8"/>
          <p:cNvCxnSpPr/>
          <p:nvPr/>
        </p:nvCxnSpPr>
        <p:spPr>
          <a:xfrm>
            <a:off x="5479084" y="3307384"/>
            <a:ext cx="0" cy="2468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:edge-8"/>
          <p:cNvCxnSpPr/>
          <p:nvPr/>
        </p:nvCxnSpPr>
        <p:spPr>
          <a:xfrm flipH="1">
            <a:off x="5457139" y="3332073"/>
            <a:ext cx="21945" cy="2377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:edge-8"/>
          <p:cNvCxnSpPr/>
          <p:nvPr/>
        </p:nvCxnSpPr>
        <p:spPr>
          <a:xfrm flipH="1">
            <a:off x="5374843" y="3355848"/>
            <a:ext cx="82296" cy="9235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:edge-8"/>
          <p:cNvCxnSpPr/>
          <p:nvPr/>
        </p:nvCxnSpPr>
        <p:spPr>
          <a:xfrm flipH="1" flipV="1">
            <a:off x="5015484" y="3359505"/>
            <a:ext cx="359359" cy="8869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:edge-8"/>
          <p:cNvCxnSpPr/>
          <p:nvPr/>
        </p:nvCxnSpPr>
        <p:spPr>
          <a:xfrm flipH="1">
            <a:off x="4903927" y="3359505"/>
            <a:ext cx="111557" cy="5303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:edge-8"/>
          <p:cNvCxnSpPr/>
          <p:nvPr/>
        </p:nvCxnSpPr>
        <p:spPr>
          <a:xfrm flipH="1">
            <a:off x="4817059" y="3412540"/>
            <a:ext cx="86868" cy="4114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:edge-8"/>
          <p:cNvCxnSpPr/>
          <p:nvPr/>
        </p:nvCxnSpPr>
        <p:spPr>
          <a:xfrm flipH="1">
            <a:off x="4737506" y="3453688"/>
            <a:ext cx="79553" cy="6218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:edge-8"/>
          <p:cNvCxnSpPr/>
          <p:nvPr/>
        </p:nvCxnSpPr>
        <p:spPr>
          <a:xfrm flipH="1">
            <a:off x="4668012" y="3515868"/>
            <a:ext cx="69494" cy="6766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:edge-8"/>
          <p:cNvCxnSpPr/>
          <p:nvPr/>
        </p:nvCxnSpPr>
        <p:spPr>
          <a:xfrm flipH="1">
            <a:off x="4611319" y="3583533"/>
            <a:ext cx="56693" cy="57607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conn-label:edge-8"/>
          <p:cNvSpPr txBox="1"/>
          <p:nvPr/>
        </p:nvSpPr>
        <p:spPr>
          <a:xfrm>
            <a:off x="4871923" y="324703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Event Bus Access</a:t>
            </a:r>
          </a:p>
        </p:txBody>
      </p:sp>
      <p:cxnSp>
        <p:nvCxnSpPr>
          <p:cNvPr id="137" name="conn:edge-9"/>
          <p:cNvCxnSpPr/>
          <p:nvPr/>
        </p:nvCxnSpPr>
        <p:spPr>
          <a:xfrm flipV="1">
            <a:off x="6799478" y="4766767"/>
            <a:ext cx="73152" cy="6400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:edge-9"/>
          <p:cNvCxnSpPr/>
          <p:nvPr/>
        </p:nvCxnSpPr>
        <p:spPr>
          <a:xfrm flipV="1">
            <a:off x="6872630" y="4690872"/>
            <a:ext cx="65837" cy="7589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:edge-9"/>
          <p:cNvCxnSpPr/>
          <p:nvPr/>
        </p:nvCxnSpPr>
        <p:spPr>
          <a:xfrm flipV="1">
            <a:off x="6938467" y="4604918"/>
            <a:ext cx="41148" cy="8595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:edge-9"/>
          <p:cNvCxnSpPr/>
          <p:nvPr/>
        </p:nvCxnSpPr>
        <p:spPr>
          <a:xfrm flipV="1">
            <a:off x="6979615" y="4060850"/>
            <a:ext cx="257861" cy="54406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:edge-9"/>
          <p:cNvCxnSpPr/>
          <p:nvPr/>
        </p:nvCxnSpPr>
        <p:spPr>
          <a:xfrm flipV="1">
            <a:off x="7237476" y="3436315"/>
            <a:ext cx="29260" cy="62453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:edge-9"/>
          <p:cNvCxnSpPr/>
          <p:nvPr/>
        </p:nvCxnSpPr>
        <p:spPr>
          <a:xfrm flipH="1" flipV="1">
            <a:off x="6685178" y="3282696"/>
            <a:ext cx="581558" cy="15361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:edge-9"/>
          <p:cNvCxnSpPr/>
          <p:nvPr/>
        </p:nvCxnSpPr>
        <p:spPr>
          <a:xfrm flipH="1" flipV="1">
            <a:off x="6152083" y="3141878"/>
            <a:ext cx="533095" cy="14081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:edge-9"/>
          <p:cNvCxnSpPr/>
          <p:nvPr/>
        </p:nvCxnSpPr>
        <p:spPr>
          <a:xfrm flipH="1">
            <a:off x="2257653" y="3141878"/>
            <a:ext cx="3894430" cy="19476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:edge-9"/>
          <p:cNvCxnSpPr/>
          <p:nvPr/>
        </p:nvCxnSpPr>
        <p:spPr>
          <a:xfrm flipH="1" flipV="1">
            <a:off x="1726387" y="3191256"/>
            <a:ext cx="531266" cy="14538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:edge-9"/>
          <p:cNvCxnSpPr/>
          <p:nvPr/>
        </p:nvCxnSpPr>
        <p:spPr>
          <a:xfrm flipH="1" flipV="1">
            <a:off x="1657807" y="3172968"/>
            <a:ext cx="68580" cy="1828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:edge-9"/>
          <p:cNvCxnSpPr/>
          <p:nvPr/>
        </p:nvCxnSpPr>
        <p:spPr>
          <a:xfrm flipH="1" flipV="1">
            <a:off x="1589227" y="3145536"/>
            <a:ext cx="68580" cy="2743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:edge-9"/>
          <p:cNvCxnSpPr/>
          <p:nvPr/>
        </p:nvCxnSpPr>
        <p:spPr>
          <a:xfrm flipH="1" flipV="1">
            <a:off x="1523390" y="3114446"/>
            <a:ext cx="65837" cy="3109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:edge-9"/>
          <p:cNvCxnSpPr/>
          <p:nvPr/>
        </p:nvCxnSpPr>
        <p:spPr>
          <a:xfrm flipH="1" flipV="1">
            <a:off x="1453896" y="3078784"/>
            <a:ext cx="69494" cy="35662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conn-label:edge-9"/>
          <p:cNvSpPr txBox="1"/>
          <p:nvPr/>
        </p:nvSpPr>
        <p:spPr>
          <a:xfrm>
            <a:off x="5649163" y="2940710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Content Delivery</a:t>
            </a:r>
          </a:p>
        </p:txBody>
      </p:sp>
      <p:cxnSp>
        <p:nvCxnSpPr>
          <p:cNvPr id="151" name="conn:edge-10"/>
          <p:cNvCxnSpPr/>
          <p:nvPr/>
        </p:nvCxnSpPr>
        <p:spPr>
          <a:xfrm flipV="1">
            <a:off x="6799478" y="4944160"/>
            <a:ext cx="319126" cy="6583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:edge-10"/>
          <p:cNvCxnSpPr/>
          <p:nvPr/>
        </p:nvCxnSpPr>
        <p:spPr>
          <a:xfrm flipV="1">
            <a:off x="7118604" y="4796942"/>
            <a:ext cx="437997" cy="14721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:edge-10"/>
          <p:cNvCxnSpPr/>
          <p:nvPr/>
        </p:nvCxnSpPr>
        <p:spPr>
          <a:xfrm flipV="1">
            <a:off x="7556601" y="4475073"/>
            <a:ext cx="222199" cy="32186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:edge-10"/>
          <p:cNvCxnSpPr/>
          <p:nvPr/>
        </p:nvCxnSpPr>
        <p:spPr>
          <a:xfrm flipV="1">
            <a:off x="7778800" y="3400653"/>
            <a:ext cx="745236" cy="107442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:edge-10"/>
          <p:cNvCxnSpPr/>
          <p:nvPr/>
        </p:nvCxnSpPr>
        <p:spPr>
          <a:xfrm flipH="1" flipV="1">
            <a:off x="7885785" y="3335731"/>
            <a:ext cx="638251" cy="6492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:edge-10"/>
          <p:cNvCxnSpPr/>
          <p:nvPr/>
        </p:nvCxnSpPr>
        <p:spPr>
          <a:xfrm flipH="1" flipV="1">
            <a:off x="7834579" y="3282696"/>
            <a:ext cx="51206" cy="53035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:edge-10"/>
          <p:cNvCxnSpPr/>
          <p:nvPr/>
        </p:nvCxnSpPr>
        <p:spPr>
          <a:xfrm flipH="1" flipV="1">
            <a:off x="7720279" y="3160166"/>
            <a:ext cx="114300" cy="12253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:edge-10"/>
          <p:cNvCxnSpPr/>
          <p:nvPr/>
        </p:nvCxnSpPr>
        <p:spPr>
          <a:xfrm flipH="1">
            <a:off x="6494983" y="3160166"/>
            <a:ext cx="1225296" cy="4389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:edge-10"/>
          <p:cNvCxnSpPr/>
          <p:nvPr/>
        </p:nvCxnSpPr>
        <p:spPr>
          <a:xfrm flipH="1" flipV="1">
            <a:off x="6326733" y="3191256"/>
            <a:ext cx="168250" cy="1280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:edge-10"/>
          <p:cNvCxnSpPr/>
          <p:nvPr/>
        </p:nvCxnSpPr>
        <p:spPr>
          <a:xfrm flipH="1" flipV="1">
            <a:off x="5015484" y="3092500"/>
            <a:ext cx="1311249" cy="98756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:edge-10"/>
          <p:cNvCxnSpPr/>
          <p:nvPr/>
        </p:nvCxnSpPr>
        <p:spPr>
          <a:xfrm flipH="1" flipV="1">
            <a:off x="3468319" y="2944368"/>
            <a:ext cx="1547165" cy="14813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:edge-10"/>
          <p:cNvCxnSpPr/>
          <p:nvPr/>
        </p:nvCxnSpPr>
        <p:spPr>
          <a:xfrm flipH="1" flipV="1">
            <a:off x="2713024" y="2870301"/>
            <a:ext cx="755295" cy="7406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:edge-10"/>
          <p:cNvCxnSpPr/>
          <p:nvPr/>
        </p:nvCxnSpPr>
        <p:spPr>
          <a:xfrm flipH="1" flipV="1">
            <a:off x="2634386" y="2862072"/>
            <a:ext cx="78638" cy="8229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conn-label:edge-10"/>
          <p:cNvSpPr txBox="1"/>
          <p:nvPr/>
        </p:nvSpPr>
        <p:spPr>
          <a:xfrm>
            <a:off x="7217359" y="2958998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Content Delivery</a:t>
            </a:r>
          </a:p>
        </p:txBody>
      </p:sp>
      <p:cxnSp>
        <p:nvCxnSpPr>
          <p:cNvPr id="165" name="conn:edge-11"/>
          <p:cNvCxnSpPr/>
          <p:nvPr/>
        </p:nvCxnSpPr>
        <p:spPr>
          <a:xfrm flipH="1">
            <a:off x="10998403" y="4226356"/>
            <a:ext cx="82296" cy="94184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:edge-11"/>
          <p:cNvCxnSpPr/>
          <p:nvPr/>
        </p:nvCxnSpPr>
        <p:spPr>
          <a:xfrm flipH="1">
            <a:off x="10895990" y="4320540"/>
            <a:ext cx="102413" cy="96012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:edge-11"/>
          <p:cNvCxnSpPr/>
          <p:nvPr/>
        </p:nvCxnSpPr>
        <p:spPr>
          <a:xfrm flipH="1">
            <a:off x="10780776" y="4416552"/>
            <a:ext cx="115214" cy="5852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:edge-11"/>
          <p:cNvCxnSpPr/>
          <p:nvPr/>
        </p:nvCxnSpPr>
        <p:spPr>
          <a:xfrm flipH="1">
            <a:off x="10106863" y="4475073"/>
            <a:ext cx="673913" cy="34655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:edge-11"/>
          <p:cNvCxnSpPr/>
          <p:nvPr/>
        </p:nvCxnSpPr>
        <p:spPr>
          <a:xfrm flipH="1">
            <a:off x="7856524" y="4821631"/>
            <a:ext cx="2250339" cy="16276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:edge-11"/>
          <p:cNvCxnSpPr/>
          <p:nvPr/>
        </p:nvCxnSpPr>
        <p:spPr>
          <a:xfrm flipH="1">
            <a:off x="6879031" y="4984394"/>
            <a:ext cx="977493" cy="56693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:edge-11"/>
          <p:cNvCxnSpPr/>
          <p:nvPr/>
        </p:nvCxnSpPr>
        <p:spPr>
          <a:xfrm flipH="1">
            <a:off x="6799478" y="5041087"/>
            <a:ext cx="79553" cy="3657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conn-label:edge-11"/>
          <p:cNvSpPr txBox="1"/>
          <p:nvPr/>
        </p:nvSpPr>
        <p:spPr>
          <a:xfrm>
            <a:off x="9603943" y="4620463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Web Application…</a:t>
            </a:r>
          </a:p>
        </p:txBody>
      </p:sp>
      <p:cxnSp>
        <p:nvCxnSpPr>
          <p:cNvPr id="173" name="conn:edge-12"/>
          <p:cNvCxnSpPr/>
          <p:nvPr/>
        </p:nvCxnSpPr>
        <p:spPr>
          <a:xfrm>
            <a:off x="6418173" y="4226356"/>
            <a:ext cx="0" cy="14356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:edge-12"/>
          <p:cNvCxnSpPr/>
          <p:nvPr/>
        </p:nvCxnSpPr>
        <p:spPr>
          <a:xfrm>
            <a:off x="6418173" y="4369917"/>
            <a:ext cx="0" cy="174651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:edge-12"/>
          <p:cNvCxnSpPr/>
          <p:nvPr/>
        </p:nvCxnSpPr>
        <p:spPr>
          <a:xfrm>
            <a:off x="6418173" y="4544568"/>
            <a:ext cx="0" cy="153619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:edge-12"/>
          <p:cNvCxnSpPr/>
          <p:nvPr/>
        </p:nvCxnSpPr>
        <p:spPr>
          <a:xfrm>
            <a:off x="6418173" y="4698187"/>
            <a:ext cx="0" cy="79553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conn-label:edge-12"/>
          <p:cNvSpPr txBox="1"/>
          <p:nvPr/>
        </p:nvSpPr>
        <p:spPr>
          <a:xfrm>
            <a:off x="5915253" y="4343400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SSL/TLS Certifi…</a:t>
            </a:r>
          </a:p>
        </p:txBody>
      </p:sp>
      <p:sp>
        <p:nvSpPr>
          <p:cNvPr id="178" name="slide-title"/>
          <p:cNvSpPr txBox="1"/>
          <p:nvPr/>
        </p:nvSpPr>
        <p:spPr>
          <a:xfrm>
            <a:off x="274320" y="54864"/>
            <a:ext cx="11643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91F"/>
                </a:solidFill>
                <a:latin typeface="Arial"/>
              </a:rPr>
              <a:t>Highly Available, Secure AWS Deployment Architecture for GIA</a:t>
            </a:r>
          </a:p>
        </p:txBody>
      </p:sp>
      <p:sp>
        <p:nvSpPr>
          <p:cNvPr id="179" name="legend-title"/>
          <p:cNvSpPr txBox="1"/>
          <p:nvPr/>
        </p:nvSpPr>
        <p:spPr>
          <a:xfrm>
            <a:off x="274320" y="651052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6191F"/>
                </a:solidFill>
                <a:latin typeface="Arial"/>
              </a:rPr>
              <a:t>Legend:</a:t>
            </a:r>
          </a:p>
        </p:txBody>
      </p:sp>
      <p:sp>
        <p:nvSpPr>
          <p:cNvPr id="180" name="legend-swatch:Compute"/>
          <p:cNvSpPr/>
          <p:nvPr/>
        </p:nvSpPr>
        <p:spPr>
          <a:xfrm>
            <a:off x="1051560" y="6547104"/>
            <a:ext cx="146304" cy="146304"/>
          </a:xfrm>
          <a:prstGeom prst="rect">
            <a:avLst/>
          </a:prstGeom>
          <a:solidFill>
            <a:srgbClr val="ED7100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216151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Compute</a:t>
            </a:r>
          </a:p>
        </p:txBody>
      </p:sp>
      <p:sp>
        <p:nvSpPr>
          <p:cNvPr id="182" name="legend-swatch:Database"/>
          <p:cNvSpPr/>
          <p:nvPr/>
        </p:nvSpPr>
        <p:spPr>
          <a:xfrm>
            <a:off x="2194560" y="6547104"/>
            <a:ext cx="146304" cy="146304"/>
          </a:xfrm>
          <a:prstGeom prst="rect">
            <a:avLst/>
          </a:prstGeom>
          <a:solidFill>
            <a:srgbClr val="2E27AD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359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Database</a:t>
            </a:r>
          </a:p>
        </p:txBody>
      </p:sp>
      <p:sp>
        <p:nvSpPr>
          <p:cNvPr id="184" name="legend-swatch:Storage"/>
          <p:cNvSpPr/>
          <p:nvPr/>
        </p:nvSpPr>
        <p:spPr>
          <a:xfrm>
            <a:off x="3337560" y="6547104"/>
            <a:ext cx="146304" cy="146304"/>
          </a:xfrm>
          <a:prstGeom prst="rect">
            <a:avLst/>
          </a:prstGeom>
          <a:solidFill>
            <a:srgbClr val="7AA116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502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Storage</a:t>
            </a:r>
          </a:p>
        </p:txBody>
      </p:sp>
      <p:sp>
        <p:nvSpPr>
          <p:cNvPr id="186" name="legend-swatch:Network"/>
          <p:cNvSpPr/>
          <p:nvPr/>
        </p:nvSpPr>
        <p:spPr>
          <a:xfrm>
            <a:off x="4480560" y="6547104"/>
            <a:ext cx="146304" cy="146304"/>
          </a:xfrm>
          <a:prstGeom prst="rect">
            <a:avLst/>
          </a:prstGeom>
          <a:solidFill>
            <a:srgbClr val="8C4FFF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645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Network</a:t>
            </a:r>
          </a:p>
        </p:txBody>
      </p:sp>
      <p:sp>
        <p:nvSpPr>
          <p:cNvPr id="188" name="legend-swatch:Security"/>
          <p:cNvSpPr/>
          <p:nvPr/>
        </p:nvSpPr>
        <p:spPr>
          <a:xfrm>
            <a:off x="5623560" y="6547104"/>
            <a:ext cx="146304" cy="146304"/>
          </a:xfrm>
          <a:prstGeom prst="rect">
            <a:avLst/>
          </a:prstGeom>
          <a:solidFill>
            <a:srgbClr val="DD344C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5788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