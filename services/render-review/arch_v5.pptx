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ainer:account-1"/>
          <p:cNvSpPr/>
          <p:nvPr/>
        </p:nvSpPr>
        <p:spPr>
          <a:xfrm>
            <a:off x="274320" y="1897380"/>
            <a:ext cx="11643055" cy="3154680"/>
          </a:xfrm>
          <a:prstGeom prst="rect">
            <a:avLst/>
          </a:prstGeom>
          <a:solidFill>
            <a:srgbClr val="FFFFFF"/>
          </a:solidFill>
          <a:ln w="15875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" name="container-title:account-1"/>
          <p:cNvSpPr/>
          <p:nvPr/>
        </p:nvSpPr>
        <p:spPr>
          <a:xfrm>
            <a:off x="274320" y="1897380"/>
            <a:ext cx="982980" cy="23774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AWS Account</a:t>
            </a:r>
          </a:p>
        </p:txBody>
      </p:sp>
      <p:sp>
        <p:nvSpPr>
          <p:cNvPr id="4" name="container:region-1"/>
          <p:cNvSpPr/>
          <p:nvPr/>
        </p:nvSpPr>
        <p:spPr>
          <a:xfrm>
            <a:off x="373075" y="2156155"/>
            <a:ext cx="9449409" cy="2303373"/>
          </a:xfrm>
          <a:prstGeom prst="rect">
            <a:avLst/>
          </a:prstGeom>
          <a:solidFill>
            <a:srgbClr val="FFFFFF"/>
          </a:solidFill>
          <a:ln w="15875">
            <a:solidFill>
              <a:srgbClr val="00A4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5" name="container-title:region-1"/>
          <p:cNvSpPr/>
          <p:nvPr/>
        </p:nvSpPr>
        <p:spPr>
          <a:xfrm>
            <a:off x="373075" y="2156155"/>
            <a:ext cx="905256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AWS Region</a:t>
            </a:r>
          </a:p>
        </p:txBody>
      </p:sp>
      <p:sp>
        <p:nvSpPr>
          <p:cNvPr id="6" name="icon:iam-1"/>
          <p:cNvSpPr/>
          <p:nvPr/>
        </p:nvSpPr>
        <p:spPr>
          <a:xfrm>
            <a:off x="10075316" y="3117189"/>
            <a:ext cx="274320" cy="274320"/>
          </a:xfrm>
          <a:prstGeom prst="roundRect">
            <a:avLst/>
          </a:prstGeom>
          <a:solidFill>
            <a:srgbClr val="DD344C"/>
          </a:solidFill>
          <a:ln w="12700">
            <a:solidFill>
              <a:srgbClr val="AD25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7" name="icon-label:iam-1"/>
          <p:cNvSpPr txBox="1"/>
          <p:nvPr/>
        </p:nvSpPr>
        <p:spPr>
          <a:xfrm>
            <a:off x="9936784" y="3391509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IAM</a:t>
            </a:r>
          </a:p>
        </p:txBody>
      </p:sp>
      <p:sp>
        <p:nvSpPr>
          <p:cNvPr id="8" name="icon:secretsmanager-1"/>
          <p:cNvSpPr/>
          <p:nvPr/>
        </p:nvSpPr>
        <p:spPr>
          <a:xfrm>
            <a:off x="10740999" y="3117189"/>
            <a:ext cx="274320" cy="274320"/>
          </a:xfrm>
          <a:prstGeom prst="roundRect">
            <a:avLst/>
          </a:prstGeom>
          <a:solidFill>
            <a:srgbClr val="DD344C"/>
          </a:solidFill>
          <a:ln w="12700">
            <a:solidFill>
              <a:srgbClr val="AD25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9" name="icon-label:secretsmanager-1"/>
          <p:cNvSpPr txBox="1"/>
          <p:nvPr/>
        </p:nvSpPr>
        <p:spPr>
          <a:xfrm>
            <a:off x="10602468" y="3391509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Secrets Manager</a:t>
            </a:r>
          </a:p>
        </p:txBody>
      </p:sp>
      <p:sp>
        <p:nvSpPr>
          <p:cNvPr id="10" name="icon:kms-1"/>
          <p:cNvSpPr/>
          <p:nvPr/>
        </p:nvSpPr>
        <p:spPr>
          <a:xfrm>
            <a:off x="11405768" y="3117189"/>
            <a:ext cx="274320" cy="274320"/>
          </a:xfrm>
          <a:prstGeom prst="roundRect">
            <a:avLst/>
          </a:prstGeom>
          <a:solidFill>
            <a:srgbClr val="DD344C"/>
          </a:solidFill>
          <a:ln w="12700">
            <a:solidFill>
              <a:srgbClr val="AD25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1" name="icon-label:kms-1"/>
          <p:cNvSpPr txBox="1"/>
          <p:nvPr/>
        </p:nvSpPr>
        <p:spPr>
          <a:xfrm>
            <a:off x="11267236" y="3391509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KMS</a:t>
            </a:r>
          </a:p>
        </p:txBody>
      </p:sp>
      <p:sp>
        <p:nvSpPr>
          <p:cNvPr id="12" name="icon:cloudwatch-1"/>
          <p:cNvSpPr/>
          <p:nvPr/>
        </p:nvSpPr>
        <p:spPr>
          <a:xfrm>
            <a:off x="5625846" y="4572914"/>
            <a:ext cx="274320" cy="274320"/>
          </a:xfrm>
          <a:prstGeom prst="roundRect">
            <a:avLst/>
          </a:prstGeom>
          <a:solidFill>
            <a:srgbClr val="E7157B"/>
          </a:solidFill>
          <a:ln w="12700">
            <a:solidFill>
              <a:srgbClr val="B50F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3" name="icon-label:cloudwatch-1"/>
          <p:cNvSpPr txBox="1"/>
          <p:nvPr/>
        </p:nvSpPr>
        <p:spPr>
          <a:xfrm>
            <a:off x="5487314" y="4847234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CloudWatch</a:t>
            </a:r>
          </a:p>
        </p:txBody>
      </p:sp>
      <p:sp>
        <p:nvSpPr>
          <p:cNvPr id="14" name="icon:cloudtrail-1"/>
          <p:cNvSpPr/>
          <p:nvPr/>
        </p:nvSpPr>
        <p:spPr>
          <a:xfrm>
            <a:off x="6291529" y="4572914"/>
            <a:ext cx="274320" cy="274320"/>
          </a:xfrm>
          <a:prstGeom prst="roundRect">
            <a:avLst/>
          </a:prstGeom>
          <a:solidFill>
            <a:srgbClr val="E7157B"/>
          </a:solidFill>
          <a:ln w="12700">
            <a:solidFill>
              <a:srgbClr val="B50F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5" name="icon-label:cloudtrail-1"/>
          <p:cNvSpPr txBox="1"/>
          <p:nvPr/>
        </p:nvSpPr>
        <p:spPr>
          <a:xfrm>
            <a:off x="6152997" y="4847234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CloudTrail</a:t>
            </a:r>
          </a:p>
        </p:txBody>
      </p:sp>
      <p:sp>
        <p:nvSpPr>
          <p:cNvPr id="16" name="container:vpc-1"/>
          <p:cNvSpPr/>
          <p:nvPr/>
        </p:nvSpPr>
        <p:spPr>
          <a:xfrm>
            <a:off x="471830" y="2414016"/>
            <a:ext cx="9251899" cy="1945843"/>
          </a:xfrm>
          <a:prstGeom prst="rect">
            <a:avLst/>
          </a:prstGeom>
          <a:solidFill>
            <a:srgbClr val="FFFFFF"/>
          </a:solidFill>
          <a:ln w="15875">
            <a:solidFill>
              <a:srgbClr val="2488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7" name="container-title:vpc-1"/>
          <p:cNvSpPr/>
          <p:nvPr/>
        </p:nvSpPr>
        <p:spPr>
          <a:xfrm>
            <a:off x="471830" y="2414016"/>
            <a:ext cx="640080" cy="237744"/>
          </a:xfrm>
          <a:prstGeom prst="rect">
            <a:avLst/>
          </a:prstGeom>
          <a:solidFill>
            <a:srgbClr val="248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VPC</a:t>
            </a:r>
          </a:p>
        </p:txBody>
      </p:sp>
      <p:sp>
        <p:nvSpPr>
          <p:cNvPr id="18" name="container:az-1"/>
          <p:cNvSpPr/>
          <p:nvPr/>
        </p:nvSpPr>
        <p:spPr>
          <a:xfrm>
            <a:off x="570585" y="2672791"/>
            <a:ext cx="4470501" cy="1589227"/>
          </a:xfrm>
          <a:prstGeom prst="rect">
            <a:avLst/>
          </a:prstGeom>
          <a:solidFill>
            <a:srgbClr val="FFFFFF"/>
          </a:solidFill>
          <a:ln w="15875">
            <a:solidFill>
              <a:srgbClr val="00A4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19" name="container-title:az-1"/>
          <p:cNvSpPr/>
          <p:nvPr/>
        </p:nvSpPr>
        <p:spPr>
          <a:xfrm>
            <a:off x="570585" y="2672791"/>
            <a:ext cx="1604772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Availability Zone 1</a:t>
            </a:r>
          </a:p>
        </p:txBody>
      </p:sp>
      <p:sp>
        <p:nvSpPr>
          <p:cNvPr id="20" name="container:az-2"/>
          <p:cNvSpPr/>
          <p:nvPr/>
        </p:nvSpPr>
        <p:spPr>
          <a:xfrm>
            <a:off x="5155387" y="2672791"/>
            <a:ext cx="4470501" cy="1589227"/>
          </a:xfrm>
          <a:prstGeom prst="rect">
            <a:avLst/>
          </a:prstGeom>
          <a:solidFill>
            <a:srgbClr val="FFFFFF"/>
          </a:solidFill>
          <a:ln w="15875">
            <a:solidFill>
              <a:srgbClr val="00A4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1" name="container-title:az-2"/>
          <p:cNvSpPr/>
          <p:nvPr/>
        </p:nvSpPr>
        <p:spPr>
          <a:xfrm>
            <a:off x="5155387" y="2672791"/>
            <a:ext cx="1604772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Availability Zone 2</a:t>
            </a:r>
          </a:p>
        </p:txBody>
      </p:sp>
      <p:sp>
        <p:nvSpPr>
          <p:cNvPr id="22" name="container:subnet-public-1"/>
          <p:cNvSpPr/>
          <p:nvPr/>
        </p:nvSpPr>
        <p:spPr>
          <a:xfrm>
            <a:off x="669340" y="2931566"/>
            <a:ext cx="2079345" cy="1231696"/>
          </a:xfrm>
          <a:prstGeom prst="rect">
            <a:avLst/>
          </a:prstGeom>
          <a:solidFill>
            <a:srgbClr val="F5F9EE"/>
          </a:solidFill>
          <a:ln w="15875">
            <a:solidFill>
              <a:srgbClr val="7AA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3" name="container-title:subnet-public-1"/>
          <p:cNvSpPr/>
          <p:nvPr/>
        </p:nvSpPr>
        <p:spPr>
          <a:xfrm>
            <a:off x="669340" y="2931566"/>
            <a:ext cx="1293876" cy="237744"/>
          </a:xfrm>
          <a:prstGeom prst="rect">
            <a:avLst/>
          </a:prstGeom>
          <a:solidFill>
            <a:srgbClr val="7AA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Public Subnet 1</a:t>
            </a:r>
          </a:p>
        </p:txBody>
      </p:sp>
      <p:sp>
        <p:nvSpPr>
          <p:cNvPr id="24" name="container:subnet-private-1"/>
          <p:cNvSpPr/>
          <p:nvPr/>
        </p:nvSpPr>
        <p:spPr>
          <a:xfrm>
            <a:off x="2862986" y="2931566"/>
            <a:ext cx="2079345" cy="1231696"/>
          </a:xfrm>
          <a:prstGeom prst="rect">
            <a:avLst/>
          </a:prstGeom>
          <a:solidFill>
            <a:srgbClr val="F2FBFC"/>
          </a:solidFill>
          <a:ln w="15875">
            <a:solidFill>
              <a:srgbClr val="00A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5" name="container-title:subnet-private-1"/>
          <p:cNvSpPr/>
          <p:nvPr/>
        </p:nvSpPr>
        <p:spPr>
          <a:xfrm>
            <a:off x="2862986" y="2931566"/>
            <a:ext cx="1371600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Private Subnet 1</a:t>
            </a:r>
          </a:p>
        </p:txBody>
      </p:sp>
      <p:sp>
        <p:nvSpPr>
          <p:cNvPr id="26" name="container:subnet-public-2"/>
          <p:cNvSpPr/>
          <p:nvPr/>
        </p:nvSpPr>
        <p:spPr>
          <a:xfrm>
            <a:off x="6782104" y="2931566"/>
            <a:ext cx="551383" cy="380390"/>
          </a:xfrm>
          <a:prstGeom prst="rect">
            <a:avLst/>
          </a:prstGeom>
          <a:solidFill>
            <a:srgbClr val="F5F9EE"/>
          </a:solidFill>
          <a:ln w="15875">
            <a:solidFill>
              <a:srgbClr val="7AA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7" name="container-title:subnet-public-2"/>
          <p:cNvSpPr/>
          <p:nvPr/>
        </p:nvSpPr>
        <p:spPr>
          <a:xfrm>
            <a:off x="6782104" y="2931566"/>
            <a:ext cx="551383" cy="237744"/>
          </a:xfrm>
          <a:prstGeom prst="rect">
            <a:avLst/>
          </a:prstGeom>
          <a:solidFill>
            <a:srgbClr val="7AA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Public Subnet 2</a:t>
            </a:r>
          </a:p>
        </p:txBody>
      </p:sp>
      <p:sp>
        <p:nvSpPr>
          <p:cNvPr id="28" name="container:subnet-private-2"/>
          <p:cNvSpPr/>
          <p:nvPr/>
        </p:nvSpPr>
        <p:spPr>
          <a:xfrm>
            <a:off x="7446873" y="2931566"/>
            <a:ext cx="551383" cy="380390"/>
          </a:xfrm>
          <a:prstGeom prst="rect">
            <a:avLst/>
          </a:prstGeom>
          <a:solidFill>
            <a:srgbClr val="F2FBFC"/>
          </a:solidFill>
          <a:ln w="15875">
            <a:solidFill>
              <a:srgbClr val="00A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29" name="container-title:subnet-private-2"/>
          <p:cNvSpPr/>
          <p:nvPr/>
        </p:nvSpPr>
        <p:spPr>
          <a:xfrm>
            <a:off x="7446873" y="2931566"/>
            <a:ext cx="551383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000" rIns="20000" tIns="0" bIns="0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Private Subnet 2</a:t>
            </a:r>
          </a:p>
        </p:txBody>
      </p:sp>
      <p:sp>
        <p:nvSpPr>
          <p:cNvPr id="30" name="icon:alb-1"/>
          <p:cNvSpPr/>
          <p:nvPr/>
        </p:nvSpPr>
        <p:spPr>
          <a:xfrm>
            <a:off x="906627" y="3189427"/>
            <a:ext cx="274320" cy="274320"/>
          </a:xfrm>
          <a:prstGeom prst="roundRect">
            <a:avLst/>
          </a:prstGeom>
          <a:solidFill>
            <a:srgbClr val="ED7100"/>
          </a:solidFill>
          <a:ln w="12700">
            <a:solidFill>
              <a:srgbClr val="C2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1" name="icon-label:alb-1"/>
          <p:cNvSpPr txBox="1"/>
          <p:nvPr/>
        </p:nvSpPr>
        <p:spPr>
          <a:xfrm>
            <a:off x="768096" y="3463747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Application Load Bala…</a:t>
            </a:r>
          </a:p>
        </p:txBody>
      </p:sp>
      <p:sp>
        <p:nvSpPr>
          <p:cNvPr id="32" name="icon:cloudfront-1"/>
          <p:cNvSpPr/>
          <p:nvPr/>
        </p:nvSpPr>
        <p:spPr>
          <a:xfrm>
            <a:off x="1572310" y="3189427"/>
            <a:ext cx="274320" cy="274320"/>
          </a:xfrm>
          <a:prstGeom prst="roundRect">
            <a:avLst/>
          </a:prstGeom>
          <a:solidFill>
            <a:srgbClr val="8C4FFF"/>
          </a:solidFill>
          <a:ln w="12700">
            <a:solidFill>
              <a:srgbClr val="6B2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3" name="icon-label:cloudfront-1"/>
          <p:cNvSpPr txBox="1"/>
          <p:nvPr/>
        </p:nvSpPr>
        <p:spPr>
          <a:xfrm>
            <a:off x="1433779" y="3463747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CloudFront Distributi…</a:t>
            </a:r>
          </a:p>
        </p:txBody>
      </p:sp>
      <p:sp>
        <p:nvSpPr>
          <p:cNvPr id="34" name="icon:waf-1"/>
          <p:cNvSpPr/>
          <p:nvPr/>
        </p:nvSpPr>
        <p:spPr>
          <a:xfrm>
            <a:off x="2237079" y="3189427"/>
            <a:ext cx="274320" cy="274320"/>
          </a:xfrm>
          <a:prstGeom prst="roundRect">
            <a:avLst/>
          </a:prstGeom>
          <a:solidFill>
            <a:srgbClr val="DD344C"/>
          </a:solidFill>
          <a:ln w="12700">
            <a:solidFill>
              <a:srgbClr val="AD25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5" name="icon-label:waf-1"/>
          <p:cNvSpPr txBox="1"/>
          <p:nvPr/>
        </p:nvSpPr>
        <p:spPr>
          <a:xfrm>
            <a:off x="2098548" y="3463747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WAF</a:t>
            </a:r>
          </a:p>
        </p:txBody>
      </p:sp>
      <p:sp>
        <p:nvSpPr>
          <p:cNvPr id="36" name="icon:ecs-1"/>
          <p:cNvSpPr/>
          <p:nvPr/>
        </p:nvSpPr>
        <p:spPr>
          <a:xfrm>
            <a:off x="3100273" y="3189427"/>
            <a:ext cx="274320" cy="274320"/>
          </a:xfrm>
          <a:prstGeom prst="roundRect">
            <a:avLst/>
          </a:prstGeom>
          <a:solidFill>
            <a:srgbClr val="ED7100"/>
          </a:solidFill>
          <a:ln w="12700">
            <a:solidFill>
              <a:srgbClr val="C2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7" name="icon-label:ecs-1"/>
          <p:cNvSpPr txBox="1"/>
          <p:nvPr/>
        </p:nvSpPr>
        <p:spPr>
          <a:xfrm>
            <a:off x="2961741" y="3463747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ECS Cluster</a:t>
            </a:r>
          </a:p>
        </p:txBody>
      </p:sp>
      <p:sp>
        <p:nvSpPr>
          <p:cNvPr id="38" name="icon:rds-1"/>
          <p:cNvSpPr/>
          <p:nvPr/>
        </p:nvSpPr>
        <p:spPr>
          <a:xfrm>
            <a:off x="3765956" y="3189427"/>
            <a:ext cx="274320" cy="274320"/>
          </a:xfrm>
          <a:prstGeom prst="roundRect">
            <a:avLst/>
          </a:prstGeom>
          <a:solidFill>
            <a:srgbClr val="2E27AD"/>
          </a:solidFill>
          <a:ln w="12700">
            <a:solidFill>
              <a:srgbClr val="1F1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9" name="icon-label:rds-1"/>
          <p:cNvSpPr txBox="1"/>
          <p:nvPr/>
        </p:nvSpPr>
        <p:spPr>
          <a:xfrm>
            <a:off x="3627424" y="3463747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RDS Instance</a:t>
            </a:r>
          </a:p>
        </p:txBody>
      </p:sp>
      <p:sp>
        <p:nvSpPr>
          <p:cNvPr id="40" name="icon:s3-1"/>
          <p:cNvSpPr/>
          <p:nvPr/>
        </p:nvSpPr>
        <p:spPr>
          <a:xfrm>
            <a:off x="4430725" y="3189427"/>
            <a:ext cx="274320" cy="274320"/>
          </a:xfrm>
          <a:prstGeom prst="roundRect">
            <a:avLst/>
          </a:prstGeom>
          <a:solidFill>
            <a:srgbClr val="7AA116"/>
          </a:solidFill>
          <a:ln w="12700">
            <a:solidFill>
              <a:srgbClr val="58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41" name="icon-label:s3-1"/>
          <p:cNvSpPr txBox="1"/>
          <p:nvPr/>
        </p:nvSpPr>
        <p:spPr>
          <a:xfrm>
            <a:off x="4292193" y="3463747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S3 Bucket</a:t>
            </a:r>
          </a:p>
        </p:txBody>
      </p:sp>
      <p:sp>
        <p:nvSpPr>
          <p:cNvPr id="42" name="icon:sqs-1"/>
          <p:cNvSpPr/>
          <p:nvPr/>
        </p:nvSpPr>
        <p:spPr>
          <a:xfrm>
            <a:off x="3765956" y="3684117"/>
            <a:ext cx="274320" cy="274320"/>
          </a:xfrm>
          <a:prstGeom prst="roundRect">
            <a:avLst/>
          </a:prstGeom>
          <a:solidFill>
            <a:srgbClr val="E7157B"/>
          </a:solidFill>
          <a:ln w="12700">
            <a:solidFill>
              <a:srgbClr val="B50F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43" name="icon-label:sqs-1"/>
          <p:cNvSpPr txBox="1"/>
          <p:nvPr/>
        </p:nvSpPr>
        <p:spPr>
          <a:xfrm>
            <a:off x="3627424" y="3958437"/>
            <a:ext cx="551383" cy="152156"/>
          </a:xfrm>
          <a:prstGeom prst="rect">
            <a:avLst/>
          </a:prstGeom>
          <a:noFill/>
        </p:spPr>
        <p:txBody>
          <a:bodyPr wrap="square" anchor="t" lIns="0" rIns="0" tIns="9000" bIns="0">
            <a:noAutofit/>
          </a:bodyPr>
          <a:lstStyle/>
          <a:p>
            <a:pPr algn="ctr"/>
            <a:r>
              <a:rPr sz="700" b="0">
                <a:solidFill>
                  <a:srgbClr val="16191F"/>
                </a:solidFill>
                <a:latin typeface="Arial"/>
              </a:rPr>
              <a:t>SQS Queue</a:t>
            </a:r>
          </a:p>
        </p:txBody>
      </p:sp>
      <p:cxnSp>
        <p:nvCxnSpPr>
          <p:cNvPr id="44" name="conn:edge-1"/>
          <p:cNvCxnSpPr/>
          <p:nvPr/>
        </p:nvCxnSpPr>
        <p:spPr>
          <a:xfrm>
            <a:off x="1319479" y="3379622"/>
            <a:ext cx="821131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:edge-1"/>
          <p:cNvCxnSpPr/>
          <p:nvPr/>
        </p:nvCxnSpPr>
        <p:spPr>
          <a:xfrm>
            <a:off x="2140610" y="3379622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:edge-1"/>
          <p:cNvCxnSpPr/>
          <p:nvPr/>
        </p:nvCxnSpPr>
        <p:spPr>
          <a:xfrm>
            <a:off x="2140610" y="3379622"/>
            <a:ext cx="821131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onn-label:edge-1"/>
          <p:cNvSpPr txBox="1"/>
          <p:nvPr/>
        </p:nvSpPr>
        <p:spPr>
          <a:xfrm>
            <a:off x="1637690" y="317845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Routes traffic…</a:t>
            </a:r>
          </a:p>
        </p:txBody>
      </p:sp>
      <p:cxnSp>
        <p:nvCxnSpPr>
          <p:cNvPr id="48" name="conn:edge-2"/>
          <p:cNvCxnSpPr/>
          <p:nvPr/>
        </p:nvCxnSpPr>
        <p:spPr>
          <a:xfrm>
            <a:off x="3513124" y="3379622"/>
            <a:ext cx="56693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:edge-2"/>
          <p:cNvCxnSpPr/>
          <p:nvPr/>
        </p:nvCxnSpPr>
        <p:spPr>
          <a:xfrm>
            <a:off x="3569817" y="3379622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:edge-2"/>
          <p:cNvCxnSpPr/>
          <p:nvPr/>
        </p:nvCxnSpPr>
        <p:spPr>
          <a:xfrm>
            <a:off x="3569817" y="3379622"/>
            <a:ext cx="57607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onn-label:edge-2"/>
          <p:cNvSpPr txBox="1"/>
          <p:nvPr/>
        </p:nvSpPr>
        <p:spPr>
          <a:xfrm>
            <a:off x="3066897" y="317845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Connects to</a:t>
            </a:r>
          </a:p>
        </p:txBody>
      </p:sp>
      <p:cxnSp>
        <p:nvCxnSpPr>
          <p:cNvPr id="52" name="conn:edge-3"/>
          <p:cNvCxnSpPr/>
          <p:nvPr/>
        </p:nvCxnSpPr>
        <p:spPr>
          <a:xfrm>
            <a:off x="3513124" y="3379622"/>
            <a:ext cx="389535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:edge-3"/>
          <p:cNvCxnSpPr/>
          <p:nvPr/>
        </p:nvCxnSpPr>
        <p:spPr>
          <a:xfrm>
            <a:off x="3902659" y="3379622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:edge-3"/>
          <p:cNvCxnSpPr/>
          <p:nvPr/>
        </p:nvCxnSpPr>
        <p:spPr>
          <a:xfrm>
            <a:off x="3902659" y="3379622"/>
            <a:ext cx="389534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onn-label:edge-3"/>
          <p:cNvSpPr txBox="1"/>
          <p:nvPr/>
        </p:nvSpPr>
        <p:spPr>
          <a:xfrm>
            <a:off x="3399739" y="317845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Uploads to</a:t>
            </a:r>
          </a:p>
        </p:txBody>
      </p:sp>
      <p:cxnSp>
        <p:nvCxnSpPr>
          <p:cNvPr id="56" name="conn:edge-4"/>
          <p:cNvCxnSpPr/>
          <p:nvPr/>
        </p:nvCxnSpPr>
        <p:spPr>
          <a:xfrm>
            <a:off x="3513124" y="3379622"/>
            <a:ext cx="56693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:edge-4"/>
          <p:cNvCxnSpPr/>
          <p:nvPr/>
        </p:nvCxnSpPr>
        <p:spPr>
          <a:xfrm>
            <a:off x="3569817" y="3379622"/>
            <a:ext cx="0" cy="49469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:edge-4"/>
          <p:cNvCxnSpPr/>
          <p:nvPr/>
        </p:nvCxnSpPr>
        <p:spPr>
          <a:xfrm>
            <a:off x="3569817" y="3874312"/>
            <a:ext cx="57607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onn-label:edge-4"/>
          <p:cNvSpPr txBox="1"/>
          <p:nvPr/>
        </p:nvSpPr>
        <p:spPr>
          <a:xfrm>
            <a:off x="3066897" y="367314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Sends messages…</a:t>
            </a:r>
          </a:p>
        </p:txBody>
      </p:sp>
      <p:cxnSp>
        <p:nvCxnSpPr>
          <p:cNvPr id="60" name="conn:edge-5"/>
          <p:cNvCxnSpPr/>
          <p:nvPr/>
        </p:nvCxnSpPr>
        <p:spPr>
          <a:xfrm flipH="1">
            <a:off x="1377086" y="3379622"/>
            <a:ext cx="56693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:edge-5"/>
          <p:cNvCxnSpPr/>
          <p:nvPr/>
        </p:nvCxnSpPr>
        <p:spPr>
          <a:xfrm>
            <a:off x="1377086" y="3379622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:edge-5"/>
          <p:cNvCxnSpPr/>
          <p:nvPr/>
        </p:nvCxnSpPr>
        <p:spPr>
          <a:xfrm flipH="1">
            <a:off x="1319479" y="3379622"/>
            <a:ext cx="57607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conn-label:edge-5"/>
          <p:cNvSpPr txBox="1"/>
          <p:nvPr/>
        </p:nvSpPr>
        <p:spPr>
          <a:xfrm>
            <a:off x="874166" y="317845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Distributes con…</a:t>
            </a:r>
          </a:p>
        </p:txBody>
      </p:sp>
      <p:cxnSp>
        <p:nvCxnSpPr>
          <p:cNvPr id="64" name="conn:edge-6"/>
          <p:cNvCxnSpPr/>
          <p:nvPr/>
        </p:nvCxnSpPr>
        <p:spPr>
          <a:xfrm flipH="1">
            <a:off x="2041855" y="3379622"/>
            <a:ext cx="56693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:edge-6"/>
          <p:cNvCxnSpPr/>
          <p:nvPr/>
        </p:nvCxnSpPr>
        <p:spPr>
          <a:xfrm>
            <a:off x="2041855" y="3379622"/>
            <a:ext cx="0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:edge-6"/>
          <p:cNvCxnSpPr/>
          <p:nvPr/>
        </p:nvCxnSpPr>
        <p:spPr>
          <a:xfrm flipH="1">
            <a:off x="1985162" y="3379622"/>
            <a:ext cx="56693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conn-label:edge-6"/>
          <p:cNvSpPr txBox="1"/>
          <p:nvPr/>
        </p:nvSpPr>
        <p:spPr>
          <a:xfrm>
            <a:off x="1538935" y="317845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Protects</a:t>
            </a:r>
          </a:p>
        </p:txBody>
      </p:sp>
      <p:cxnSp>
        <p:nvCxnSpPr>
          <p:cNvPr id="68" name="conn:edge-7"/>
          <p:cNvCxnSpPr/>
          <p:nvPr/>
        </p:nvCxnSpPr>
        <p:spPr>
          <a:xfrm flipH="1">
            <a:off x="6724497" y="3307384"/>
            <a:ext cx="3212287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:edge-7"/>
          <p:cNvCxnSpPr/>
          <p:nvPr/>
        </p:nvCxnSpPr>
        <p:spPr>
          <a:xfrm>
            <a:off x="6724497" y="3307384"/>
            <a:ext cx="0" cy="72238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:edge-7"/>
          <p:cNvCxnSpPr/>
          <p:nvPr/>
        </p:nvCxnSpPr>
        <p:spPr>
          <a:xfrm flipH="1">
            <a:off x="3513124" y="3379622"/>
            <a:ext cx="3211373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conn-label:edge-7"/>
          <p:cNvSpPr txBox="1"/>
          <p:nvPr/>
        </p:nvSpPr>
        <p:spPr>
          <a:xfrm>
            <a:off x="6221577" y="317845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Manages access…</a:t>
            </a:r>
          </a:p>
        </p:txBody>
      </p:sp>
      <p:cxnSp>
        <p:nvCxnSpPr>
          <p:cNvPr id="72" name="conn:edge-8"/>
          <p:cNvCxnSpPr/>
          <p:nvPr/>
        </p:nvCxnSpPr>
        <p:spPr>
          <a:xfrm flipH="1">
            <a:off x="7058253" y="3307384"/>
            <a:ext cx="3544215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:edge-8"/>
          <p:cNvCxnSpPr/>
          <p:nvPr/>
        </p:nvCxnSpPr>
        <p:spPr>
          <a:xfrm>
            <a:off x="7058253" y="3307384"/>
            <a:ext cx="0" cy="72238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:edge-8"/>
          <p:cNvCxnSpPr/>
          <p:nvPr/>
        </p:nvCxnSpPr>
        <p:spPr>
          <a:xfrm flipH="1">
            <a:off x="3513124" y="3379622"/>
            <a:ext cx="3545129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conn-label:edge-8"/>
          <p:cNvSpPr txBox="1"/>
          <p:nvPr/>
        </p:nvSpPr>
        <p:spPr>
          <a:xfrm>
            <a:off x="6555333" y="317845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Provides secret…</a:t>
            </a:r>
          </a:p>
        </p:txBody>
      </p:sp>
      <p:cxnSp>
        <p:nvCxnSpPr>
          <p:cNvPr id="76" name="conn:edge-9"/>
          <p:cNvCxnSpPr/>
          <p:nvPr/>
        </p:nvCxnSpPr>
        <p:spPr>
          <a:xfrm flipH="1">
            <a:off x="7390180" y="3307384"/>
            <a:ext cx="3877056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:edge-9"/>
          <p:cNvCxnSpPr/>
          <p:nvPr/>
        </p:nvCxnSpPr>
        <p:spPr>
          <a:xfrm>
            <a:off x="7390180" y="3307384"/>
            <a:ext cx="0" cy="72238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:edge-9"/>
          <p:cNvCxnSpPr/>
          <p:nvPr/>
        </p:nvCxnSpPr>
        <p:spPr>
          <a:xfrm flipH="1">
            <a:off x="3513124" y="3379622"/>
            <a:ext cx="3877056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onn-label:edge-9"/>
          <p:cNvSpPr txBox="1"/>
          <p:nvPr/>
        </p:nvSpPr>
        <p:spPr>
          <a:xfrm>
            <a:off x="6887260" y="317845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Manages keys for</a:t>
            </a:r>
          </a:p>
        </p:txBody>
      </p:sp>
      <p:cxnSp>
        <p:nvCxnSpPr>
          <p:cNvPr id="80" name="conn:edge-10"/>
          <p:cNvCxnSpPr/>
          <p:nvPr/>
        </p:nvCxnSpPr>
        <p:spPr>
          <a:xfrm flipH="1">
            <a:off x="4499762" y="4763109"/>
            <a:ext cx="987552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:edge-10"/>
          <p:cNvCxnSpPr/>
          <p:nvPr/>
        </p:nvCxnSpPr>
        <p:spPr>
          <a:xfrm flipV="1">
            <a:off x="4499762" y="3379622"/>
            <a:ext cx="0" cy="1383487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:edge-10"/>
          <p:cNvCxnSpPr/>
          <p:nvPr/>
        </p:nvCxnSpPr>
        <p:spPr>
          <a:xfrm flipH="1">
            <a:off x="3513124" y="3379622"/>
            <a:ext cx="986638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conn-label:edge-10"/>
          <p:cNvSpPr txBox="1"/>
          <p:nvPr/>
        </p:nvSpPr>
        <p:spPr>
          <a:xfrm>
            <a:off x="3996842" y="317845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Monitors</a:t>
            </a:r>
          </a:p>
        </p:txBody>
      </p:sp>
      <p:cxnSp>
        <p:nvCxnSpPr>
          <p:cNvPr id="84" name="conn:edge-11"/>
          <p:cNvCxnSpPr/>
          <p:nvPr/>
        </p:nvCxnSpPr>
        <p:spPr>
          <a:xfrm flipH="1">
            <a:off x="4832604" y="4763109"/>
            <a:ext cx="1320393" cy="0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:edge-11"/>
          <p:cNvCxnSpPr/>
          <p:nvPr/>
        </p:nvCxnSpPr>
        <p:spPr>
          <a:xfrm flipV="1">
            <a:off x="4832604" y="3379622"/>
            <a:ext cx="0" cy="1383487"/>
          </a:xfrm>
          <a:prstGeom prst="line">
            <a:avLst/>
          </a:prstGeom>
          <a:ln w="15875">
            <a:solidFill>
              <a:srgbClr val="7D89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:edge-11"/>
          <p:cNvCxnSpPr/>
          <p:nvPr/>
        </p:nvCxnSpPr>
        <p:spPr>
          <a:xfrm flipH="1">
            <a:off x="3513124" y="3379622"/>
            <a:ext cx="1319480" cy="0"/>
          </a:xfrm>
          <a:prstGeom prst="line">
            <a:avLst/>
          </a:prstGeom>
          <a:ln w="15875">
            <a:solidFill>
              <a:srgbClr val="7D8998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conn-label:edge-11"/>
          <p:cNvSpPr txBox="1"/>
          <p:nvPr/>
        </p:nvSpPr>
        <p:spPr>
          <a:xfrm>
            <a:off x="4329684" y="3178454"/>
            <a:ext cx="10058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600" i="1">
                <a:solidFill>
                  <a:srgbClr val="7D8998"/>
                </a:solidFill>
                <a:latin typeface="Arial"/>
              </a:rPr>
              <a:t>Logs events for</a:t>
            </a:r>
          </a:p>
        </p:txBody>
      </p:sp>
      <p:sp>
        <p:nvSpPr>
          <p:cNvPr id="88" name="slide-title"/>
          <p:cNvSpPr txBox="1"/>
          <p:nvPr/>
        </p:nvSpPr>
        <p:spPr>
          <a:xfrm>
            <a:off x="274320" y="54864"/>
            <a:ext cx="116430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191F"/>
                </a:solidFill>
                <a:latin typeface="Arial"/>
              </a:rPr>
              <a:t>Highly Available and Secure AWS Deployment Architecture</a:t>
            </a:r>
          </a:p>
        </p:txBody>
      </p:sp>
      <p:sp>
        <p:nvSpPr>
          <p:cNvPr id="89" name="legend-title"/>
          <p:cNvSpPr txBox="1"/>
          <p:nvPr/>
        </p:nvSpPr>
        <p:spPr>
          <a:xfrm>
            <a:off x="274320" y="6510528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6191F"/>
                </a:solidFill>
                <a:latin typeface="Arial"/>
              </a:rPr>
              <a:t>Legend:</a:t>
            </a:r>
          </a:p>
        </p:txBody>
      </p:sp>
      <p:sp>
        <p:nvSpPr>
          <p:cNvPr id="90" name="legend-swatch:Compute"/>
          <p:cNvSpPr/>
          <p:nvPr/>
        </p:nvSpPr>
        <p:spPr>
          <a:xfrm>
            <a:off x="1051560" y="6547104"/>
            <a:ext cx="146304" cy="146304"/>
          </a:xfrm>
          <a:prstGeom prst="rect">
            <a:avLst/>
          </a:prstGeom>
          <a:solidFill>
            <a:srgbClr val="ED7100"/>
          </a:solidFill>
          <a:ln w="6350">
            <a:solidFill>
              <a:srgbClr val="161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216151" y="6519672"/>
            <a:ext cx="905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6191F"/>
                </a:solidFill>
                <a:latin typeface="Arial"/>
              </a:rPr>
              <a:t>Compute</a:t>
            </a:r>
          </a:p>
        </p:txBody>
      </p:sp>
      <p:sp>
        <p:nvSpPr>
          <p:cNvPr id="92" name="legend-swatch:Database"/>
          <p:cNvSpPr/>
          <p:nvPr/>
        </p:nvSpPr>
        <p:spPr>
          <a:xfrm>
            <a:off x="2194560" y="6547104"/>
            <a:ext cx="146304" cy="146304"/>
          </a:xfrm>
          <a:prstGeom prst="rect">
            <a:avLst/>
          </a:prstGeom>
          <a:solidFill>
            <a:srgbClr val="2E27AD"/>
          </a:solidFill>
          <a:ln w="6350">
            <a:solidFill>
              <a:srgbClr val="161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359152" y="6519672"/>
            <a:ext cx="905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6191F"/>
                </a:solidFill>
                <a:latin typeface="Arial"/>
              </a:rPr>
              <a:t>Database</a:t>
            </a:r>
          </a:p>
        </p:txBody>
      </p:sp>
      <p:sp>
        <p:nvSpPr>
          <p:cNvPr id="94" name="legend-swatch:Storage"/>
          <p:cNvSpPr/>
          <p:nvPr/>
        </p:nvSpPr>
        <p:spPr>
          <a:xfrm>
            <a:off x="3337560" y="6547104"/>
            <a:ext cx="146304" cy="146304"/>
          </a:xfrm>
          <a:prstGeom prst="rect">
            <a:avLst/>
          </a:prstGeom>
          <a:solidFill>
            <a:srgbClr val="7AA116"/>
          </a:solidFill>
          <a:ln w="6350">
            <a:solidFill>
              <a:srgbClr val="161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502152" y="6519672"/>
            <a:ext cx="905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6191F"/>
                </a:solidFill>
                <a:latin typeface="Arial"/>
              </a:rPr>
              <a:t>Storage</a:t>
            </a:r>
          </a:p>
        </p:txBody>
      </p:sp>
      <p:sp>
        <p:nvSpPr>
          <p:cNvPr id="96" name="legend-swatch:Network"/>
          <p:cNvSpPr/>
          <p:nvPr/>
        </p:nvSpPr>
        <p:spPr>
          <a:xfrm>
            <a:off x="4480560" y="6547104"/>
            <a:ext cx="146304" cy="146304"/>
          </a:xfrm>
          <a:prstGeom prst="rect">
            <a:avLst/>
          </a:prstGeom>
          <a:solidFill>
            <a:srgbClr val="8C4FFF"/>
          </a:solidFill>
          <a:ln w="6350">
            <a:solidFill>
              <a:srgbClr val="161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645152" y="6519672"/>
            <a:ext cx="905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6191F"/>
                </a:solidFill>
                <a:latin typeface="Arial"/>
              </a:rPr>
              <a:t>Network</a:t>
            </a:r>
          </a:p>
        </p:txBody>
      </p:sp>
      <p:sp>
        <p:nvSpPr>
          <p:cNvPr id="98" name="legend-swatch:Security"/>
          <p:cNvSpPr/>
          <p:nvPr/>
        </p:nvSpPr>
        <p:spPr>
          <a:xfrm>
            <a:off x="5623560" y="6547104"/>
            <a:ext cx="146304" cy="146304"/>
          </a:xfrm>
          <a:prstGeom prst="rect">
            <a:avLst/>
          </a:prstGeom>
          <a:solidFill>
            <a:srgbClr val="DD344C"/>
          </a:solidFill>
          <a:ln w="6350">
            <a:solidFill>
              <a:srgbClr val="161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788152" y="6519672"/>
            <a:ext cx="905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6191F"/>
                </a:solidFill>
                <a:latin typeface="Arial"/>
              </a:rPr>
              <a:t>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